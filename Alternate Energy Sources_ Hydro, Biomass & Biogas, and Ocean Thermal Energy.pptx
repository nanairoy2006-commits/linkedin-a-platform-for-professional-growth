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Sorts Mill Goudy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itsathy.ac.in/6d5378d146c79c77b4e6f6e9daa4156cba619ca2.jpg">    </p:cNvPr>
          <p:cNvPicPr>
            <a:picLocks noChangeAspect="1"/>
          </p:cNvPicPr>
          <p:nvPr/>
        </p:nvPicPr>
        <p:blipFill>
          <a:blip r:embed="rId1"/>
          <a:srcRect l="0" r="0" t="1969" b="196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43990"/>
            <a:ext cx="2827020" cy="388620"/>
          </a:xfrm>
          <a:custGeom>
            <a:avLst/>
            <a:gdLst/>
            <a:ahLst/>
            <a:cxnLst/>
            <a:rect l="l" t="t" r="r" b="b"/>
            <a:pathLst>
              <a:path w="2827020" h="388620">
                <a:moveTo>
                  <a:pt x="194310" y="0"/>
                </a:moveTo>
                <a:lnTo>
                  <a:pt x="2632710" y="0"/>
                </a:lnTo>
                <a:cubicBezTo>
                  <a:pt x="2740024" y="0"/>
                  <a:pt x="2827020" y="86996"/>
                  <a:pt x="2827020" y="194310"/>
                </a:cubicBezTo>
                <a:lnTo>
                  <a:pt x="2827020" y="194310"/>
                </a:lnTo>
                <a:cubicBezTo>
                  <a:pt x="2827020" y="301624"/>
                  <a:pt x="2740024" y="388620"/>
                  <a:pt x="26327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C8A7A">
              <a:alpha val="20000"/>
            </a:srgbClr>
          </a:solidFill>
          <a:ln w="10160">
            <a:solidFill>
              <a:srgbClr val="8FB7AC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2932" y="1552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7821" y="2244"/>
                </a:moveTo>
                <a:cubicBezTo>
                  <a:pt x="159964" y="201"/>
                  <a:pt x="163078" y="-536"/>
                  <a:pt x="165958" y="402"/>
                </a:cubicBezTo>
                <a:cubicBezTo>
                  <a:pt x="169240" y="1507"/>
                  <a:pt x="171450" y="4588"/>
                  <a:pt x="171450" y="8037"/>
                </a:cubicBezTo>
                <a:lnTo>
                  <a:pt x="171450" y="70623"/>
                </a:lnTo>
                <a:cubicBezTo>
                  <a:pt x="171450" y="114557"/>
                  <a:pt x="135251" y="150019"/>
                  <a:pt x="91485" y="150019"/>
                </a:cubicBezTo>
                <a:cubicBezTo>
                  <a:pt x="65700" y="150019"/>
                  <a:pt x="43465" y="133443"/>
                  <a:pt x="35395" y="110270"/>
                </a:cubicBezTo>
                <a:cubicBezTo>
                  <a:pt x="23541" y="120584"/>
                  <a:pt x="16073" y="135754"/>
                  <a:pt x="16073" y="152698"/>
                </a:cubicBezTo>
                <a:cubicBezTo>
                  <a:pt x="16073" y="157151"/>
                  <a:pt x="12490" y="160734"/>
                  <a:pt x="8037" y="160734"/>
                </a:cubicBezTo>
                <a:cubicBezTo>
                  <a:pt x="3583" y="160734"/>
                  <a:pt x="0" y="157151"/>
                  <a:pt x="0" y="152698"/>
                </a:cubicBezTo>
                <a:cubicBezTo>
                  <a:pt x="0" y="127616"/>
                  <a:pt x="12792" y="105515"/>
                  <a:pt x="32180" y="92523"/>
                </a:cubicBezTo>
                <a:cubicBezTo>
                  <a:pt x="44001" y="84620"/>
                  <a:pt x="58099" y="80367"/>
                  <a:pt x="72330" y="80367"/>
                </a:cubicBezTo>
                <a:lnTo>
                  <a:pt x="99120" y="80367"/>
                </a:lnTo>
                <a:cubicBezTo>
                  <a:pt x="103573" y="80367"/>
                  <a:pt x="107156" y="76784"/>
                  <a:pt x="107156" y="72330"/>
                </a:cubicBezTo>
                <a:cubicBezTo>
                  <a:pt x="107156" y="67877"/>
                  <a:pt x="103573" y="64294"/>
                  <a:pt x="99120" y="64294"/>
                </a:cubicBezTo>
                <a:lnTo>
                  <a:pt x="72330" y="64294"/>
                </a:lnTo>
                <a:cubicBezTo>
                  <a:pt x="59036" y="64294"/>
                  <a:pt x="46446" y="67241"/>
                  <a:pt x="35161" y="72498"/>
                </a:cubicBezTo>
                <a:cubicBezTo>
                  <a:pt x="42963" y="49057"/>
                  <a:pt x="65030" y="32147"/>
                  <a:pt x="91083" y="32147"/>
                </a:cubicBezTo>
                <a:cubicBezTo>
                  <a:pt x="113318" y="32147"/>
                  <a:pt x="129860" y="24746"/>
                  <a:pt x="140877" y="17413"/>
                </a:cubicBezTo>
                <a:cubicBezTo>
                  <a:pt x="147306" y="13127"/>
                  <a:pt x="152765" y="8003"/>
                  <a:pt x="157855" y="224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" name="Text 3"/>
          <p:cNvSpPr/>
          <p:nvPr/>
        </p:nvSpPr>
        <p:spPr>
          <a:xfrm>
            <a:off x="907733" y="15240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ENERGY SERIES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65020"/>
            <a:ext cx="44958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Alternate Energy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60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3874770"/>
            <a:ext cx="43529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Hydro, Biomass &amp; Biogas,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Ocean Thermal Energy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108257"/>
            <a:ext cx="4305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Solutions for a Greener Future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002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219206"/>
                </a:lnTo>
                <a:cubicBezTo>
                  <a:pt x="5581650" y="1282286"/>
                  <a:pt x="5530436" y="1333500"/>
                  <a:pt x="5467356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288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Need for Alternate Energy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209681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global context of energy transition and environmental challenges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124081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219206"/>
                </a:lnTo>
                <a:cubicBezTo>
                  <a:pt x="5581650" y="1282286"/>
                  <a:pt x="5530436" y="1333500"/>
                  <a:pt x="5467356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3124081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3526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" y="33526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352681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Hydroelectric Energy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733562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Harnessing the power of flowing water for clean electricity generation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647962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219206"/>
                </a:lnTo>
                <a:cubicBezTo>
                  <a:pt x="5581650" y="1282286"/>
                  <a:pt x="5530436" y="1333500"/>
                  <a:pt x="5467356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4647962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8765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4876562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876562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Biomass and Biogas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5257443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organic waste into valuable renewable energy resources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6002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219206"/>
                </a:lnTo>
                <a:cubicBezTo>
                  <a:pt x="5581650" y="1282286"/>
                  <a:pt x="5530436" y="1333500"/>
                  <a:pt x="5467356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16002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8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18288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Ocean Thermal Energy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2209681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Tapping into the ocean's temperature gradient for power generation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3124081"/>
            <a:ext cx="5600700" cy="3352800"/>
          </a:xfrm>
          <a:custGeom>
            <a:avLst/>
            <a:gdLst/>
            <a:ahLst/>
            <a:cxnLst/>
            <a:rect l="l" t="t" r="r" b="b"/>
            <a:pathLst>
              <a:path w="5600700" h="3352800">
                <a:moveTo>
                  <a:pt x="114297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3238503"/>
                </a:lnTo>
                <a:cubicBezTo>
                  <a:pt x="5600700" y="3301628"/>
                  <a:pt x="5549528" y="3352800"/>
                  <a:pt x="5486403" y="3352800"/>
                </a:cubicBezTo>
                <a:lnTo>
                  <a:pt x="114297" y="3352800"/>
                </a:lnTo>
                <a:cubicBezTo>
                  <a:pt x="51172" y="3352800"/>
                  <a:pt x="0" y="3301628"/>
                  <a:pt x="0" y="3238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F3E3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8900" y="4133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0" y="4133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24700" y="41338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24700" y="4514731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Investing in sustainable technologies for a cleaner, greener, and more energy-secure future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6525" y="525768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5" name="Text 33"/>
          <p:cNvSpPr/>
          <p:nvPr/>
        </p:nvSpPr>
        <p:spPr>
          <a:xfrm>
            <a:off x="6791325" y="5238631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and recommendations for energy transition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Need for Alternate Energy Sources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09700"/>
            <a:ext cx="6162675" cy="1543050"/>
          </a:xfrm>
          <a:custGeom>
            <a:avLst/>
            <a:gdLst/>
            <a:ahLst/>
            <a:cxnLst/>
            <a:rect l="l" t="t" r="r" b="b"/>
            <a:pathLst>
              <a:path w="6162675" h="1543050">
                <a:moveTo>
                  <a:pt x="114294" y="0"/>
                </a:moveTo>
                <a:lnTo>
                  <a:pt x="6048381" y="0"/>
                </a:lnTo>
                <a:cubicBezTo>
                  <a:pt x="6111462" y="0"/>
                  <a:pt x="6162675" y="51213"/>
                  <a:pt x="6162675" y="114294"/>
                </a:cubicBezTo>
                <a:lnTo>
                  <a:pt x="6162675" y="1428756"/>
                </a:lnTo>
                <a:cubicBezTo>
                  <a:pt x="6162675" y="1491837"/>
                  <a:pt x="6111462" y="1543050"/>
                  <a:pt x="60483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04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484" y="107156"/>
                </a:moveTo>
                <a:cubicBezTo>
                  <a:pt x="35905" y="107156"/>
                  <a:pt x="11906" y="83158"/>
                  <a:pt x="11906" y="53578"/>
                </a:cubicBezTo>
                <a:cubicBezTo>
                  <a:pt x="11906" y="23999"/>
                  <a:pt x="35905" y="0"/>
                  <a:pt x="65484" y="0"/>
                </a:cubicBezTo>
                <a:cubicBezTo>
                  <a:pt x="75605" y="0"/>
                  <a:pt x="85055" y="2791"/>
                  <a:pt x="93129" y="7665"/>
                </a:cubicBezTo>
                <a:cubicBezTo>
                  <a:pt x="100608" y="2828"/>
                  <a:pt x="109500" y="0"/>
                  <a:pt x="119063" y="0"/>
                </a:cubicBezTo>
                <a:cubicBezTo>
                  <a:pt x="136699" y="0"/>
                  <a:pt x="152065" y="9562"/>
                  <a:pt x="160325" y="23812"/>
                </a:cubicBezTo>
                <a:lnTo>
                  <a:pt x="160734" y="23812"/>
                </a:lnTo>
                <a:cubicBezTo>
                  <a:pt x="183766" y="23812"/>
                  <a:pt x="202406" y="42453"/>
                  <a:pt x="202406" y="65484"/>
                </a:cubicBezTo>
                <a:cubicBezTo>
                  <a:pt x="202406" y="87920"/>
                  <a:pt x="184696" y="106189"/>
                  <a:pt x="162520" y="107119"/>
                </a:cubicBezTo>
                <a:cubicBezTo>
                  <a:pt x="154112" y="114560"/>
                  <a:pt x="143061" y="119063"/>
                  <a:pt x="130969" y="119063"/>
                </a:cubicBezTo>
                <a:cubicBezTo>
                  <a:pt x="118876" y="119063"/>
                  <a:pt x="107863" y="114560"/>
                  <a:pt x="99454" y="107156"/>
                </a:cubicBezTo>
                <a:lnTo>
                  <a:pt x="65484" y="107156"/>
                </a:lnTo>
                <a:close/>
                <a:moveTo>
                  <a:pt x="190500" y="145852"/>
                </a:moveTo>
                <a:cubicBezTo>
                  <a:pt x="190500" y="150800"/>
                  <a:pt x="186519" y="154781"/>
                  <a:pt x="181570" y="154781"/>
                </a:cubicBezTo>
                <a:lnTo>
                  <a:pt x="8930" y="154781"/>
                </a:lnTo>
                <a:cubicBezTo>
                  <a:pt x="3981" y="154781"/>
                  <a:pt x="0" y="150800"/>
                  <a:pt x="0" y="145852"/>
                </a:cubicBezTo>
                <a:cubicBezTo>
                  <a:pt x="0" y="140903"/>
                  <a:pt x="3981" y="136922"/>
                  <a:pt x="8930" y="136922"/>
                </a:cubicBezTo>
                <a:lnTo>
                  <a:pt x="181570" y="136922"/>
                </a:lnTo>
                <a:cubicBezTo>
                  <a:pt x="186519" y="136922"/>
                  <a:pt x="190500" y="140903"/>
                  <a:pt x="190500" y="145852"/>
                </a:cubicBezTo>
                <a:close/>
                <a:moveTo>
                  <a:pt x="32742" y="172641"/>
                </a:moveTo>
                <a:lnTo>
                  <a:pt x="62508" y="172641"/>
                </a:lnTo>
                <a:cubicBezTo>
                  <a:pt x="67456" y="172641"/>
                  <a:pt x="71438" y="176622"/>
                  <a:pt x="71438" y="181570"/>
                </a:cubicBezTo>
                <a:cubicBezTo>
                  <a:pt x="71438" y="186519"/>
                  <a:pt x="67456" y="190500"/>
                  <a:pt x="62508" y="190500"/>
                </a:cubicBezTo>
                <a:lnTo>
                  <a:pt x="32742" y="190500"/>
                </a:lnTo>
                <a:cubicBezTo>
                  <a:pt x="27794" y="190500"/>
                  <a:pt x="23812" y="186519"/>
                  <a:pt x="23812" y="181570"/>
                </a:cubicBezTo>
                <a:cubicBezTo>
                  <a:pt x="23812" y="176622"/>
                  <a:pt x="27794" y="172641"/>
                  <a:pt x="32742" y="172641"/>
                </a:cubicBezTo>
                <a:close/>
                <a:moveTo>
                  <a:pt x="98227" y="172641"/>
                </a:moveTo>
                <a:lnTo>
                  <a:pt x="205383" y="172641"/>
                </a:lnTo>
                <a:cubicBezTo>
                  <a:pt x="210331" y="172641"/>
                  <a:pt x="214313" y="176622"/>
                  <a:pt x="214313" y="181570"/>
                </a:cubicBezTo>
                <a:cubicBezTo>
                  <a:pt x="214313" y="186519"/>
                  <a:pt x="210331" y="190500"/>
                  <a:pt x="205383" y="190500"/>
                </a:cubicBezTo>
                <a:lnTo>
                  <a:pt x="98227" y="190500"/>
                </a:lnTo>
                <a:cubicBezTo>
                  <a:pt x="93278" y="190500"/>
                  <a:pt x="89297" y="186519"/>
                  <a:pt x="89297" y="181570"/>
                </a:cubicBezTo>
                <a:cubicBezTo>
                  <a:pt x="89297" y="176622"/>
                  <a:pt x="93278" y="172641"/>
                  <a:pt x="98227" y="172641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63830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981200"/>
            <a:ext cx="5172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Fossil fuel combustion releases massive amounts of CO₂ and pollutants, driving climate change and degrading air quality worldwide. The transition to renewables is essential for environmental protection.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143250"/>
            <a:ext cx="6162675" cy="1543050"/>
          </a:xfrm>
          <a:custGeom>
            <a:avLst/>
            <a:gdLst/>
            <a:ahLst/>
            <a:cxnLst/>
            <a:rect l="l" t="t" r="r" b="b"/>
            <a:pathLst>
              <a:path w="6162675" h="1543050">
                <a:moveTo>
                  <a:pt x="114294" y="0"/>
                </a:moveTo>
                <a:lnTo>
                  <a:pt x="6048381" y="0"/>
                </a:lnTo>
                <a:cubicBezTo>
                  <a:pt x="6111462" y="0"/>
                  <a:pt x="6162675" y="51213"/>
                  <a:pt x="6162675" y="114294"/>
                </a:cubicBezTo>
                <a:lnTo>
                  <a:pt x="6162675" y="1428756"/>
                </a:lnTo>
                <a:cubicBezTo>
                  <a:pt x="6162675" y="1491837"/>
                  <a:pt x="6111462" y="1543050"/>
                  <a:pt x="60483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9138" y="3505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47625"/>
                </a:moveTo>
                <a:cubicBezTo>
                  <a:pt x="125648" y="47625"/>
                  <a:pt x="130969" y="42304"/>
                  <a:pt x="130969" y="35719"/>
                </a:cubicBezTo>
                <a:cubicBezTo>
                  <a:pt x="130969" y="29133"/>
                  <a:pt x="125648" y="23812"/>
                  <a:pt x="119063" y="23812"/>
                </a:cubicBezTo>
                <a:lnTo>
                  <a:pt x="71438" y="23812"/>
                </a:ln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83344" y="47625"/>
                </a:lnTo>
                <a:lnTo>
                  <a:pt x="83344" y="59531"/>
                </a:lnTo>
                <a:lnTo>
                  <a:pt x="17859" y="59531"/>
                </a:lnTo>
                <a:cubicBezTo>
                  <a:pt x="8000" y="59531"/>
                  <a:pt x="0" y="67531"/>
                  <a:pt x="0" y="77391"/>
                </a:cubicBezTo>
                <a:lnTo>
                  <a:pt x="0" y="101501"/>
                </a:lnTo>
                <a:cubicBezTo>
                  <a:pt x="0" y="108570"/>
                  <a:pt x="4167" y="114970"/>
                  <a:pt x="10604" y="117835"/>
                </a:cubicBezTo>
                <a:lnTo>
                  <a:pt x="35719" y="128997"/>
                </a:lnTo>
                <a:lnTo>
                  <a:pt x="35719" y="136922"/>
                </a:lnTo>
                <a:cubicBezTo>
                  <a:pt x="35719" y="146782"/>
                  <a:pt x="43718" y="154781"/>
                  <a:pt x="53578" y="154781"/>
                </a:cubicBezTo>
                <a:lnTo>
                  <a:pt x="149982" y="154781"/>
                </a:lnTo>
                <a:cubicBezTo>
                  <a:pt x="156828" y="154781"/>
                  <a:pt x="163302" y="151842"/>
                  <a:pt x="167841" y="146707"/>
                </a:cubicBezTo>
                <a:lnTo>
                  <a:pt x="235707" y="69838"/>
                </a:lnTo>
                <a:cubicBezTo>
                  <a:pt x="240283" y="64666"/>
                  <a:pt x="235595" y="56666"/>
                  <a:pt x="228860" y="58117"/>
                </a:cubicBezTo>
                <a:lnTo>
                  <a:pt x="166688" y="71438"/>
                </a:lnTo>
                <a:lnTo>
                  <a:pt x="147898" y="62061"/>
                </a:lnTo>
                <a:cubicBezTo>
                  <a:pt x="144587" y="60424"/>
                  <a:pt x="140940" y="59531"/>
                  <a:pt x="137257" y="59531"/>
                </a:cubicBezTo>
                <a:lnTo>
                  <a:pt x="107156" y="59531"/>
                </a:lnTo>
                <a:lnTo>
                  <a:pt x="107156" y="47625"/>
                </a:lnTo>
                <a:lnTo>
                  <a:pt x="119063" y="47625"/>
                </a:lnTo>
                <a:close/>
                <a:moveTo>
                  <a:pt x="35719" y="77391"/>
                </a:moveTo>
                <a:lnTo>
                  <a:pt x="35719" y="109426"/>
                </a:lnTo>
                <a:lnTo>
                  <a:pt x="17859" y="101501"/>
                </a:lnTo>
                <a:lnTo>
                  <a:pt x="17859" y="77391"/>
                </a:lnTo>
                <a:lnTo>
                  <a:pt x="35719" y="7739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337185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Resource Depletion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3714750"/>
            <a:ext cx="5172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Coal, oil, and natural gas reserves are finite and depleting rapidly. Global energy demand continues to rise, making the shift to renewable sources critical for long-term energy security.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876800"/>
            <a:ext cx="6162675" cy="1543050"/>
          </a:xfrm>
          <a:custGeom>
            <a:avLst/>
            <a:gdLst/>
            <a:ahLst/>
            <a:cxnLst/>
            <a:rect l="l" t="t" r="r" b="b"/>
            <a:pathLst>
              <a:path w="6162675" h="1543050">
                <a:moveTo>
                  <a:pt x="114294" y="0"/>
                </a:moveTo>
                <a:lnTo>
                  <a:pt x="6048381" y="0"/>
                </a:lnTo>
                <a:cubicBezTo>
                  <a:pt x="6111462" y="0"/>
                  <a:pt x="6162675" y="51213"/>
                  <a:pt x="6162675" y="114294"/>
                </a:cubicBezTo>
                <a:lnTo>
                  <a:pt x="6162675" y="1428756"/>
                </a:lnTo>
                <a:cubicBezTo>
                  <a:pt x="6162675" y="1491837"/>
                  <a:pt x="6111462" y="1543050"/>
                  <a:pt x="60483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" y="510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2950" y="523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510540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Energy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9200" y="5448300"/>
            <a:ext cx="5172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energy sources are domestically available and inexhaustible, reducing dependence on imported fuels and enhancing national energy independence and economic stability.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70370" y="1409700"/>
            <a:ext cx="5038725" cy="3352800"/>
          </a:xfrm>
          <a:custGeom>
            <a:avLst/>
            <a:gdLst/>
            <a:ahLst/>
            <a:cxnLst/>
            <a:rect l="l" t="t" r="r" b="b"/>
            <a:pathLst>
              <a:path w="5038725" h="3352800">
                <a:moveTo>
                  <a:pt x="114297" y="0"/>
                </a:moveTo>
                <a:lnTo>
                  <a:pt x="4924428" y="0"/>
                </a:lnTo>
                <a:cubicBezTo>
                  <a:pt x="4987553" y="0"/>
                  <a:pt x="5038725" y="51172"/>
                  <a:pt x="5038725" y="114297"/>
                </a:cubicBezTo>
                <a:lnTo>
                  <a:pt x="5038725" y="3238503"/>
                </a:lnTo>
                <a:cubicBezTo>
                  <a:pt x="5038725" y="3301628"/>
                  <a:pt x="4987553" y="3352800"/>
                  <a:pt x="4924428" y="3352800"/>
                </a:cubicBezTo>
                <a:lnTo>
                  <a:pt x="114297" y="3352800"/>
                </a:lnTo>
                <a:cubicBezTo>
                  <a:pt x="51172" y="3352800"/>
                  <a:pt x="0" y="3301628"/>
                  <a:pt x="0" y="3238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98970" y="1638300"/>
            <a:ext cx="4695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Renewables Matter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8970" y="21975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89470" y="23880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8000" y="26789"/>
                </a:moveTo>
                <a:cubicBezTo>
                  <a:pt x="88627" y="-8930"/>
                  <a:pt x="140196" y="-8930"/>
                  <a:pt x="160824" y="26789"/>
                </a:cubicBezTo>
                <a:lnTo>
                  <a:pt x="177478" y="55632"/>
                </a:lnTo>
                <a:lnTo>
                  <a:pt x="189845" y="48488"/>
                </a:lnTo>
                <a:cubicBezTo>
                  <a:pt x="193596" y="46300"/>
                  <a:pt x="198284" y="46613"/>
                  <a:pt x="201722" y="49247"/>
                </a:cubicBezTo>
                <a:cubicBezTo>
                  <a:pt x="205160" y="51881"/>
                  <a:pt x="206678" y="56346"/>
                  <a:pt x="205561" y="60543"/>
                </a:cubicBezTo>
                <a:lnTo>
                  <a:pt x="195069" y="99566"/>
                </a:lnTo>
                <a:cubicBezTo>
                  <a:pt x="193551" y="105281"/>
                  <a:pt x="187657" y="108674"/>
                  <a:pt x="181942" y="107156"/>
                </a:cubicBezTo>
                <a:lnTo>
                  <a:pt x="142920" y="96709"/>
                </a:lnTo>
                <a:cubicBezTo>
                  <a:pt x="138723" y="95592"/>
                  <a:pt x="135642" y="92065"/>
                  <a:pt x="135062" y="87779"/>
                </a:cubicBezTo>
                <a:cubicBezTo>
                  <a:pt x="134481" y="83493"/>
                  <a:pt x="136580" y="79251"/>
                  <a:pt x="140330" y="77108"/>
                </a:cubicBezTo>
                <a:lnTo>
                  <a:pt x="152698" y="69964"/>
                </a:lnTo>
                <a:lnTo>
                  <a:pt x="136044" y="41121"/>
                </a:lnTo>
                <a:cubicBezTo>
                  <a:pt x="126400" y="24467"/>
                  <a:pt x="102379" y="24467"/>
                  <a:pt x="92735" y="41121"/>
                </a:cubicBezTo>
                <a:lnTo>
                  <a:pt x="90368" y="45184"/>
                </a:lnTo>
                <a:cubicBezTo>
                  <a:pt x="86439" y="52015"/>
                  <a:pt x="77688" y="54337"/>
                  <a:pt x="70857" y="50408"/>
                </a:cubicBezTo>
                <a:cubicBezTo>
                  <a:pt x="64026" y="46479"/>
                  <a:pt x="61704" y="37728"/>
                  <a:pt x="65633" y="30852"/>
                </a:cubicBezTo>
                <a:lnTo>
                  <a:pt x="68000" y="26789"/>
                </a:lnTo>
                <a:close/>
                <a:moveTo>
                  <a:pt x="200784" y="124614"/>
                </a:moveTo>
                <a:cubicBezTo>
                  <a:pt x="207615" y="120685"/>
                  <a:pt x="216366" y="123006"/>
                  <a:pt x="220295" y="129838"/>
                </a:cubicBezTo>
                <a:lnTo>
                  <a:pt x="222662" y="133901"/>
                </a:lnTo>
                <a:cubicBezTo>
                  <a:pt x="243289" y="169619"/>
                  <a:pt x="217527" y="214268"/>
                  <a:pt x="176272" y="214268"/>
                </a:cubicBezTo>
                <a:lnTo>
                  <a:pt x="142964" y="214268"/>
                </a:lnTo>
                <a:lnTo>
                  <a:pt x="142964" y="228555"/>
                </a:lnTo>
                <a:cubicBezTo>
                  <a:pt x="142964" y="232886"/>
                  <a:pt x="140375" y="236815"/>
                  <a:pt x="136356" y="238467"/>
                </a:cubicBezTo>
                <a:cubicBezTo>
                  <a:pt x="132338" y="240119"/>
                  <a:pt x="127739" y="239226"/>
                  <a:pt x="124658" y="236146"/>
                </a:cubicBezTo>
                <a:lnTo>
                  <a:pt x="96083" y="207571"/>
                </a:lnTo>
                <a:cubicBezTo>
                  <a:pt x="91886" y="203374"/>
                  <a:pt x="91886" y="196587"/>
                  <a:pt x="96083" y="192435"/>
                </a:cubicBezTo>
                <a:lnTo>
                  <a:pt x="124658" y="163860"/>
                </a:lnTo>
                <a:cubicBezTo>
                  <a:pt x="127739" y="160779"/>
                  <a:pt x="132338" y="159886"/>
                  <a:pt x="136356" y="161538"/>
                </a:cubicBezTo>
                <a:cubicBezTo>
                  <a:pt x="140375" y="163190"/>
                  <a:pt x="142964" y="167119"/>
                  <a:pt x="142964" y="171450"/>
                </a:cubicBezTo>
                <a:lnTo>
                  <a:pt x="142964" y="185738"/>
                </a:lnTo>
                <a:lnTo>
                  <a:pt x="176272" y="185738"/>
                </a:lnTo>
                <a:cubicBezTo>
                  <a:pt x="195516" y="185738"/>
                  <a:pt x="207571" y="164887"/>
                  <a:pt x="197927" y="148233"/>
                </a:cubicBezTo>
                <a:lnTo>
                  <a:pt x="195560" y="144170"/>
                </a:lnTo>
                <a:cubicBezTo>
                  <a:pt x="191631" y="137339"/>
                  <a:pt x="193953" y="128588"/>
                  <a:pt x="200784" y="124658"/>
                </a:cubicBezTo>
                <a:close/>
                <a:moveTo>
                  <a:pt x="22771" y="105102"/>
                </a:moveTo>
                <a:lnTo>
                  <a:pt x="10403" y="97959"/>
                </a:lnTo>
                <a:cubicBezTo>
                  <a:pt x="6653" y="95771"/>
                  <a:pt x="4554" y="91574"/>
                  <a:pt x="5135" y="87288"/>
                </a:cubicBezTo>
                <a:cubicBezTo>
                  <a:pt x="5715" y="83001"/>
                  <a:pt x="8796" y="79474"/>
                  <a:pt x="12993" y="78358"/>
                </a:cubicBezTo>
                <a:lnTo>
                  <a:pt x="52015" y="67866"/>
                </a:lnTo>
                <a:cubicBezTo>
                  <a:pt x="57730" y="66348"/>
                  <a:pt x="63624" y="69741"/>
                  <a:pt x="65142" y="75456"/>
                </a:cubicBezTo>
                <a:lnTo>
                  <a:pt x="75590" y="114479"/>
                </a:lnTo>
                <a:cubicBezTo>
                  <a:pt x="76706" y="118676"/>
                  <a:pt x="75188" y="123096"/>
                  <a:pt x="71750" y="125775"/>
                </a:cubicBezTo>
                <a:cubicBezTo>
                  <a:pt x="68312" y="128454"/>
                  <a:pt x="63624" y="128721"/>
                  <a:pt x="59874" y="126534"/>
                </a:cubicBezTo>
                <a:lnTo>
                  <a:pt x="47506" y="119390"/>
                </a:lnTo>
                <a:lnTo>
                  <a:pt x="30852" y="148233"/>
                </a:lnTo>
                <a:cubicBezTo>
                  <a:pt x="21208" y="164887"/>
                  <a:pt x="33263" y="185738"/>
                  <a:pt x="52507" y="185738"/>
                </a:cubicBezTo>
                <a:lnTo>
                  <a:pt x="57239" y="185738"/>
                </a:lnTo>
                <a:cubicBezTo>
                  <a:pt x="65142" y="185738"/>
                  <a:pt x="71527" y="192122"/>
                  <a:pt x="71527" y="200025"/>
                </a:cubicBezTo>
                <a:cubicBezTo>
                  <a:pt x="71527" y="207928"/>
                  <a:pt x="65142" y="214313"/>
                  <a:pt x="57239" y="214313"/>
                </a:cubicBezTo>
                <a:lnTo>
                  <a:pt x="52507" y="214313"/>
                </a:lnTo>
                <a:cubicBezTo>
                  <a:pt x="11296" y="214313"/>
                  <a:pt x="-14466" y="169664"/>
                  <a:pt x="6161" y="133945"/>
                </a:cubicBezTo>
                <a:lnTo>
                  <a:pt x="22771" y="105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60970" y="2254687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60970" y="2521387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 energy supply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8970" y="30116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9470" y="32021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60970" y="306883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Eco-Friendly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60970" y="3335536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environmental impact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98970" y="38257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1" name="Shape 29"/>
          <p:cNvSpPr/>
          <p:nvPr/>
        </p:nvSpPr>
        <p:spPr>
          <a:xfrm>
            <a:off x="7189470" y="40162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60970" y="3882866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60970" y="4149566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Declining technology costs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74180" y="4960621"/>
            <a:ext cx="5036820" cy="1512570"/>
          </a:xfrm>
          <a:custGeom>
            <a:avLst/>
            <a:gdLst/>
            <a:ahLst/>
            <a:cxnLst/>
            <a:rect l="l" t="t" r="r" b="b"/>
            <a:pathLst>
              <a:path w="5036820" h="1512570">
                <a:moveTo>
                  <a:pt x="114305" y="0"/>
                </a:moveTo>
                <a:lnTo>
                  <a:pt x="4922515" y="0"/>
                </a:lnTo>
                <a:cubicBezTo>
                  <a:pt x="4985644" y="0"/>
                  <a:pt x="5036820" y="51176"/>
                  <a:pt x="5036820" y="114305"/>
                </a:cubicBezTo>
                <a:lnTo>
                  <a:pt x="5036820" y="1398265"/>
                </a:lnTo>
                <a:cubicBezTo>
                  <a:pt x="5036820" y="1461394"/>
                  <a:pt x="4985644" y="1512570"/>
                  <a:pt x="49225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 w="10160">
            <a:solidFill>
              <a:srgbClr val="4C8A7A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7065" y="51739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6" name="Text 34"/>
          <p:cNvSpPr/>
          <p:nvPr/>
        </p:nvSpPr>
        <p:spPr>
          <a:xfrm>
            <a:off x="7368540" y="515493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Global Commitment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68490" y="553593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Paris Agreement and national policies worldwide are driving unprecedented investment in renewable energy technologies, creating momentum for a sustainable energy future.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alj.com/58bd94d1fab5ae947037e4b7adf98cd367b675ed.jpg">    </p:cNvPr>
          <p:cNvPicPr>
            <a:picLocks noChangeAspect="1"/>
          </p:cNvPicPr>
          <p:nvPr/>
        </p:nvPicPr>
        <p:blipFill>
          <a:blip r:embed="rId1"/>
          <a:srcRect l="3556" r="3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817496"/>
            <a:ext cx="1283970" cy="388620"/>
          </a:xfrm>
          <a:custGeom>
            <a:avLst/>
            <a:gdLst/>
            <a:ahLst/>
            <a:cxnLst/>
            <a:rect l="l" t="t" r="r" b="b"/>
            <a:pathLst>
              <a:path w="1283970" h="388620">
                <a:moveTo>
                  <a:pt x="194310" y="0"/>
                </a:moveTo>
                <a:lnTo>
                  <a:pt x="1089660" y="0"/>
                </a:lnTo>
                <a:cubicBezTo>
                  <a:pt x="1196974" y="0"/>
                  <a:pt x="1283970" y="86996"/>
                  <a:pt x="1283970" y="194310"/>
                </a:cubicBezTo>
                <a:lnTo>
                  <a:pt x="1283970" y="194310"/>
                </a:lnTo>
                <a:cubicBezTo>
                  <a:pt x="1283970" y="301624"/>
                  <a:pt x="1196974" y="388620"/>
                  <a:pt x="10896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 w="10160">
            <a:solidFill>
              <a:srgbClr val="8FB7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289750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438525"/>
            <a:ext cx="4381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Hydroelectric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Energy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81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648325"/>
            <a:ext cx="4152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Harnessing the Power of Flowing Water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406" y="335406"/>
            <a:ext cx="1157988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spc="92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Hydroelectric Energy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406" y="570190"/>
            <a:ext cx="11672121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How Hydroelectric Power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5406" y="1006217"/>
            <a:ext cx="670812" cy="33541"/>
          </a:xfrm>
          <a:custGeom>
            <a:avLst/>
            <a:gdLst/>
            <a:ahLst/>
            <a:cxnLst/>
            <a:rect l="l" t="t" r="r" b="b"/>
            <a:pathLst>
              <a:path w="670812" h="33541">
                <a:moveTo>
                  <a:pt x="0" y="0"/>
                </a:moveTo>
                <a:lnTo>
                  <a:pt x="670812" y="0"/>
                </a:lnTo>
                <a:lnTo>
                  <a:pt x="670812" y="33541"/>
                </a:lnTo>
                <a:lnTo>
                  <a:pt x="0" y="33541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35406" y="1207461"/>
            <a:ext cx="5659972" cy="1685414"/>
          </a:xfrm>
          <a:custGeom>
            <a:avLst/>
            <a:gdLst/>
            <a:ahLst/>
            <a:cxnLst/>
            <a:rect l="l" t="t" r="r" b="b"/>
            <a:pathLst>
              <a:path w="5659972" h="1685414">
                <a:moveTo>
                  <a:pt x="100619" y="0"/>
                </a:moveTo>
                <a:lnTo>
                  <a:pt x="5559353" y="0"/>
                </a:lnTo>
                <a:cubicBezTo>
                  <a:pt x="5614924" y="0"/>
                  <a:pt x="5659972" y="45049"/>
                  <a:pt x="5659972" y="100619"/>
                </a:cubicBezTo>
                <a:lnTo>
                  <a:pt x="5659972" y="1584795"/>
                </a:lnTo>
                <a:cubicBezTo>
                  <a:pt x="5659972" y="1640365"/>
                  <a:pt x="5614924" y="1685414"/>
                  <a:pt x="5559353" y="1685414"/>
                </a:cubicBezTo>
                <a:lnTo>
                  <a:pt x="100619" y="1685414"/>
                </a:lnTo>
                <a:cubicBezTo>
                  <a:pt x="45049" y="1685414"/>
                  <a:pt x="0" y="1640365"/>
                  <a:pt x="0" y="1584795"/>
                </a:cubicBezTo>
                <a:lnTo>
                  <a:pt x="0" y="100619"/>
                </a:lnTo>
                <a:cubicBezTo>
                  <a:pt x="0" y="45049"/>
                  <a:pt x="45049" y="0"/>
                  <a:pt x="1006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155" dist="838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3109" y="1375164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Text 5"/>
          <p:cNvSpPr/>
          <p:nvPr/>
        </p:nvSpPr>
        <p:spPr>
          <a:xfrm>
            <a:off x="465376" y="1375164"/>
            <a:ext cx="410872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136" y="1425475"/>
            <a:ext cx="135000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Water Collection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3109" y="1844732"/>
            <a:ext cx="5391648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is collected in reservoirs behind dams or diverted from rivers. The stored water represents potential energy that can be converted to electricity on demand.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4072" y="2440077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121041" y="36583"/>
                </a:moveTo>
                <a:cubicBezTo>
                  <a:pt x="127143" y="41182"/>
                  <a:pt x="134601" y="45634"/>
                  <a:pt x="142914" y="46754"/>
                </a:cubicBezTo>
                <a:cubicBezTo>
                  <a:pt x="146776" y="47284"/>
                  <a:pt x="150343" y="44543"/>
                  <a:pt x="150874" y="40681"/>
                </a:cubicBezTo>
                <a:cubicBezTo>
                  <a:pt x="151404" y="36819"/>
                  <a:pt x="148663" y="33252"/>
                  <a:pt x="144801" y="32722"/>
                </a:cubicBezTo>
                <a:cubicBezTo>
                  <a:pt x="140114" y="32103"/>
                  <a:pt x="135014" y="29391"/>
                  <a:pt x="129560" y="25293"/>
                </a:cubicBezTo>
                <a:cubicBezTo>
                  <a:pt x="118240" y="16744"/>
                  <a:pt x="102882" y="16744"/>
                  <a:pt x="91532" y="25293"/>
                </a:cubicBezTo>
                <a:cubicBezTo>
                  <a:pt x="84457" y="30629"/>
                  <a:pt x="79534" y="33046"/>
                  <a:pt x="75466" y="33046"/>
                </a:cubicBezTo>
                <a:cubicBezTo>
                  <a:pt x="71398" y="33046"/>
                  <a:pt x="66475" y="30629"/>
                  <a:pt x="59400" y="25293"/>
                </a:cubicBezTo>
                <a:cubicBezTo>
                  <a:pt x="48080" y="16744"/>
                  <a:pt x="32722" y="16744"/>
                  <a:pt x="21372" y="25293"/>
                </a:cubicBezTo>
                <a:cubicBezTo>
                  <a:pt x="15919" y="29391"/>
                  <a:pt x="10819" y="32103"/>
                  <a:pt x="6132" y="32722"/>
                </a:cubicBezTo>
                <a:cubicBezTo>
                  <a:pt x="2270" y="33252"/>
                  <a:pt x="-472" y="36790"/>
                  <a:pt x="59" y="40681"/>
                </a:cubicBezTo>
                <a:cubicBezTo>
                  <a:pt x="590" y="44572"/>
                  <a:pt x="4127" y="47284"/>
                  <a:pt x="8018" y="46754"/>
                </a:cubicBezTo>
                <a:cubicBezTo>
                  <a:pt x="16331" y="45634"/>
                  <a:pt x="23819" y="41182"/>
                  <a:pt x="29892" y="36583"/>
                </a:cubicBezTo>
                <a:cubicBezTo>
                  <a:pt x="36171" y="31837"/>
                  <a:pt x="44602" y="31837"/>
                  <a:pt x="50881" y="36583"/>
                </a:cubicBezTo>
                <a:cubicBezTo>
                  <a:pt x="58015" y="41978"/>
                  <a:pt x="66298" y="47166"/>
                  <a:pt x="75466" y="47166"/>
                </a:cubicBezTo>
                <a:cubicBezTo>
                  <a:pt x="84634" y="47166"/>
                  <a:pt x="92888" y="41949"/>
                  <a:pt x="100052" y="36583"/>
                </a:cubicBezTo>
                <a:cubicBezTo>
                  <a:pt x="106331" y="31837"/>
                  <a:pt x="114762" y="31837"/>
                  <a:pt x="121041" y="36583"/>
                </a:cubicBezTo>
                <a:close/>
                <a:moveTo>
                  <a:pt x="121041" y="79033"/>
                </a:moveTo>
                <a:cubicBezTo>
                  <a:pt x="127143" y="83632"/>
                  <a:pt x="134601" y="88083"/>
                  <a:pt x="142914" y="89204"/>
                </a:cubicBezTo>
                <a:cubicBezTo>
                  <a:pt x="146776" y="89734"/>
                  <a:pt x="150343" y="86993"/>
                  <a:pt x="150874" y="83131"/>
                </a:cubicBezTo>
                <a:cubicBezTo>
                  <a:pt x="151404" y="79269"/>
                  <a:pt x="148663" y="75702"/>
                  <a:pt x="144801" y="75172"/>
                </a:cubicBezTo>
                <a:cubicBezTo>
                  <a:pt x="140114" y="74552"/>
                  <a:pt x="135014" y="71840"/>
                  <a:pt x="129560" y="67743"/>
                </a:cubicBezTo>
                <a:cubicBezTo>
                  <a:pt x="118240" y="59194"/>
                  <a:pt x="102882" y="59194"/>
                  <a:pt x="91532" y="67743"/>
                </a:cubicBezTo>
                <a:cubicBezTo>
                  <a:pt x="84457" y="73078"/>
                  <a:pt x="79534" y="75496"/>
                  <a:pt x="75466" y="75496"/>
                </a:cubicBezTo>
                <a:cubicBezTo>
                  <a:pt x="71398" y="75496"/>
                  <a:pt x="66475" y="73078"/>
                  <a:pt x="59400" y="67743"/>
                </a:cubicBezTo>
                <a:cubicBezTo>
                  <a:pt x="48080" y="59194"/>
                  <a:pt x="32722" y="59194"/>
                  <a:pt x="21372" y="67743"/>
                </a:cubicBezTo>
                <a:cubicBezTo>
                  <a:pt x="15919" y="71840"/>
                  <a:pt x="10819" y="74552"/>
                  <a:pt x="6132" y="75172"/>
                </a:cubicBezTo>
                <a:cubicBezTo>
                  <a:pt x="2270" y="75673"/>
                  <a:pt x="-472" y="79240"/>
                  <a:pt x="59" y="83131"/>
                </a:cubicBezTo>
                <a:cubicBezTo>
                  <a:pt x="590" y="87022"/>
                  <a:pt x="4127" y="89734"/>
                  <a:pt x="8018" y="89204"/>
                </a:cubicBezTo>
                <a:cubicBezTo>
                  <a:pt x="16331" y="88083"/>
                  <a:pt x="23819" y="83632"/>
                  <a:pt x="29892" y="79033"/>
                </a:cubicBezTo>
                <a:cubicBezTo>
                  <a:pt x="36171" y="74287"/>
                  <a:pt x="44602" y="74287"/>
                  <a:pt x="50881" y="79033"/>
                </a:cubicBezTo>
                <a:cubicBezTo>
                  <a:pt x="58015" y="84428"/>
                  <a:pt x="66298" y="89616"/>
                  <a:pt x="75466" y="89616"/>
                </a:cubicBezTo>
                <a:cubicBezTo>
                  <a:pt x="84634" y="89616"/>
                  <a:pt x="92888" y="84398"/>
                  <a:pt x="100052" y="79033"/>
                </a:cubicBezTo>
                <a:cubicBezTo>
                  <a:pt x="106331" y="74287"/>
                  <a:pt x="114762" y="74287"/>
                  <a:pt x="121041" y="79033"/>
                </a:cubicBezTo>
                <a:close/>
                <a:moveTo>
                  <a:pt x="100052" y="121483"/>
                </a:moveTo>
                <a:cubicBezTo>
                  <a:pt x="106331" y="116737"/>
                  <a:pt x="114762" y="116737"/>
                  <a:pt x="121041" y="121483"/>
                </a:cubicBezTo>
                <a:cubicBezTo>
                  <a:pt x="127143" y="126082"/>
                  <a:pt x="134601" y="130533"/>
                  <a:pt x="142914" y="131653"/>
                </a:cubicBezTo>
                <a:cubicBezTo>
                  <a:pt x="146776" y="132184"/>
                  <a:pt x="150343" y="129442"/>
                  <a:pt x="150874" y="125581"/>
                </a:cubicBezTo>
                <a:cubicBezTo>
                  <a:pt x="151404" y="121719"/>
                  <a:pt x="148663" y="118152"/>
                  <a:pt x="144801" y="117621"/>
                </a:cubicBezTo>
                <a:cubicBezTo>
                  <a:pt x="140114" y="117002"/>
                  <a:pt x="135014" y="114290"/>
                  <a:pt x="129560" y="110193"/>
                </a:cubicBezTo>
                <a:cubicBezTo>
                  <a:pt x="118240" y="101644"/>
                  <a:pt x="102882" y="101644"/>
                  <a:pt x="91532" y="110193"/>
                </a:cubicBezTo>
                <a:cubicBezTo>
                  <a:pt x="84457" y="115528"/>
                  <a:pt x="79534" y="117946"/>
                  <a:pt x="75466" y="117946"/>
                </a:cubicBezTo>
                <a:cubicBezTo>
                  <a:pt x="71398" y="117946"/>
                  <a:pt x="66475" y="115528"/>
                  <a:pt x="59400" y="110193"/>
                </a:cubicBezTo>
                <a:cubicBezTo>
                  <a:pt x="48080" y="101644"/>
                  <a:pt x="32722" y="101644"/>
                  <a:pt x="21372" y="110193"/>
                </a:cubicBezTo>
                <a:cubicBezTo>
                  <a:pt x="15919" y="114290"/>
                  <a:pt x="10819" y="117002"/>
                  <a:pt x="6132" y="117621"/>
                </a:cubicBezTo>
                <a:cubicBezTo>
                  <a:pt x="2270" y="118152"/>
                  <a:pt x="-472" y="121689"/>
                  <a:pt x="59" y="125581"/>
                </a:cubicBezTo>
                <a:cubicBezTo>
                  <a:pt x="590" y="129472"/>
                  <a:pt x="4127" y="132184"/>
                  <a:pt x="8018" y="131653"/>
                </a:cubicBezTo>
                <a:cubicBezTo>
                  <a:pt x="16331" y="130533"/>
                  <a:pt x="23819" y="126082"/>
                  <a:pt x="29892" y="121483"/>
                </a:cubicBezTo>
                <a:cubicBezTo>
                  <a:pt x="36171" y="116737"/>
                  <a:pt x="44602" y="116737"/>
                  <a:pt x="50881" y="121483"/>
                </a:cubicBezTo>
                <a:cubicBezTo>
                  <a:pt x="58015" y="126878"/>
                  <a:pt x="66298" y="132066"/>
                  <a:pt x="75466" y="132066"/>
                </a:cubicBezTo>
                <a:cubicBezTo>
                  <a:pt x="84634" y="132066"/>
                  <a:pt x="92888" y="126848"/>
                  <a:pt x="100052" y="12148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1" name="Text 9"/>
          <p:cNvSpPr/>
          <p:nvPr/>
        </p:nvSpPr>
        <p:spPr>
          <a:xfrm>
            <a:off x="758856" y="2414922"/>
            <a:ext cx="1475785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Gravity creates pressure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5406" y="3024208"/>
            <a:ext cx="5659972" cy="1685414"/>
          </a:xfrm>
          <a:custGeom>
            <a:avLst/>
            <a:gdLst/>
            <a:ahLst/>
            <a:cxnLst/>
            <a:rect l="l" t="t" r="r" b="b"/>
            <a:pathLst>
              <a:path w="5659972" h="1685414">
                <a:moveTo>
                  <a:pt x="100619" y="0"/>
                </a:moveTo>
                <a:lnTo>
                  <a:pt x="5559353" y="0"/>
                </a:lnTo>
                <a:cubicBezTo>
                  <a:pt x="5614924" y="0"/>
                  <a:pt x="5659972" y="45049"/>
                  <a:pt x="5659972" y="100619"/>
                </a:cubicBezTo>
                <a:lnTo>
                  <a:pt x="5659972" y="1584795"/>
                </a:lnTo>
                <a:cubicBezTo>
                  <a:pt x="5659972" y="1640365"/>
                  <a:pt x="5614924" y="1685414"/>
                  <a:pt x="5559353" y="1685414"/>
                </a:cubicBezTo>
                <a:lnTo>
                  <a:pt x="100619" y="1685414"/>
                </a:lnTo>
                <a:cubicBezTo>
                  <a:pt x="45049" y="1685414"/>
                  <a:pt x="0" y="1640365"/>
                  <a:pt x="0" y="1584795"/>
                </a:cubicBezTo>
                <a:lnTo>
                  <a:pt x="0" y="100619"/>
                </a:lnTo>
                <a:cubicBezTo>
                  <a:pt x="0" y="45049"/>
                  <a:pt x="45049" y="0"/>
                  <a:pt x="1006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155" dist="838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3109" y="3191911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5376" y="3191911"/>
            <a:ext cx="410872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136" y="3242222"/>
            <a:ext cx="135839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Turbine Rotation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3109" y="3661479"/>
            <a:ext cx="5391648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flows through penstocks and strikes turbine blades, causing them to spin. Modern turbines can achieve 90%+ efficiency in converting water power to mechanical energy.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072" y="4256824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141529" y="56600"/>
                </a:moveTo>
                <a:lnTo>
                  <a:pt x="143858" y="56600"/>
                </a:lnTo>
                <a:cubicBezTo>
                  <a:pt x="147778" y="56600"/>
                  <a:pt x="150933" y="53445"/>
                  <a:pt x="150933" y="49525"/>
                </a:cubicBezTo>
                <a:lnTo>
                  <a:pt x="150933" y="7075"/>
                </a:lnTo>
                <a:cubicBezTo>
                  <a:pt x="150933" y="4216"/>
                  <a:pt x="149223" y="1621"/>
                  <a:pt x="146570" y="531"/>
                </a:cubicBezTo>
                <a:cubicBezTo>
                  <a:pt x="143917" y="-560"/>
                  <a:pt x="140880" y="59"/>
                  <a:pt x="138846" y="2064"/>
                </a:cubicBezTo>
                <a:lnTo>
                  <a:pt x="123606" y="17334"/>
                </a:lnTo>
                <a:cubicBezTo>
                  <a:pt x="110546" y="6515"/>
                  <a:pt x="93743" y="0"/>
                  <a:pt x="75466" y="0"/>
                </a:cubicBezTo>
                <a:cubicBezTo>
                  <a:pt x="37438" y="0"/>
                  <a:pt x="5984" y="28123"/>
                  <a:pt x="766" y="64706"/>
                </a:cubicBezTo>
                <a:cubicBezTo>
                  <a:pt x="29" y="69865"/>
                  <a:pt x="3596" y="74641"/>
                  <a:pt x="8755" y="75378"/>
                </a:cubicBezTo>
                <a:cubicBezTo>
                  <a:pt x="13914" y="76115"/>
                  <a:pt x="18690" y="72518"/>
                  <a:pt x="19427" y="67389"/>
                </a:cubicBezTo>
                <a:cubicBezTo>
                  <a:pt x="23347" y="39944"/>
                  <a:pt x="46960" y="18867"/>
                  <a:pt x="75466" y="18867"/>
                </a:cubicBezTo>
                <a:cubicBezTo>
                  <a:pt x="88555" y="18867"/>
                  <a:pt x="100582" y="23288"/>
                  <a:pt x="110163" y="30747"/>
                </a:cubicBezTo>
                <a:lnTo>
                  <a:pt x="96396" y="44513"/>
                </a:lnTo>
                <a:cubicBezTo>
                  <a:pt x="94362" y="46547"/>
                  <a:pt x="93773" y="49584"/>
                  <a:pt x="94863" y="52237"/>
                </a:cubicBezTo>
                <a:cubicBezTo>
                  <a:pt x="95954" y="54890"/>
                  <a:pt x="98548" y="56600"/>
                  <a:pt x="101408" y="56600"/>
                </a:cubicBezTo>
                <a:lnTo>
                  <a:pt x="141529" y="56600"/>
                </a:lnTo>
                <a:close/>
                <a:moveTo>
                  <a:pt x="150196" y="86226"/>
                </a:moveTo>
                <a:cubicBezTo>
                  <a:pt x="150933" y="81067"/>
                  <a:pt x="147336" y="76292"/>
                  <a:pt x="142207" y="75555"/>
                </a:cubicBezTo>
                <a:cubicBezTo>
                  <a:pt x="137077" y="74818"/>
                  <a:pt x="132272" y="78414"/>
                  <a:pt x="131535" y="83544"/>
                </a:cubicBezTo>
                <a:cubicBezTo>
                  <a:pt x="127615" y="110959"/>
                  <a:pt x="104002" y="132037"/>
                  <a:pt x="75496" y="132037"/>
                </a:cubicBezTo>
                <a:cubicBezTo>
                  <a:pt x="62407" y="132037"/>
                  <a:pt x="50380" y="127615"/>
                  <a:pt x="40799" y="120156"/>
                </a:cubicBezTo>
                <a:lnTo>
                  <a:pt x="54536" y="106419"/>
                </a:lnTo>
                <a:cubicBezTo>
                  <a:pt x="56570" y="104385"/>
                  <a:pt x="57160" y="101349"/>
                  <a:pt x="56069" y="98696"/>
                </a:cubicBezTo>
                <a:cubicBezTo>
                  <a:pt x="54978" y="96043"/>
                  <a:pt x="52384" y="94333"/>
                  <a:pt x="49525" y="94333"/>
                </a:cubicBezTo>
                <a:lnTo>
                  <a:pt x="7075" y="94333"/>
                </a:lnTo>
                <a:cubicBezTo>
                  <a:pt x="3154" y="94333"/>
                  <a:pt x="0" y="97487"/>
                  <a:pt x="0" y="101408"/>
                </a:cubicBezTo>
                <a:lnTo>
                  <a:pt x="0" y="143858"/>
                </a:lnTo>
                <a:cubicBezTo>
                  <a:pt x="0" y="146717"/>
                  <a:pt x="1710" y="149311"/>
                  <a:pt x="4363" y="150402"/>
                </a:cubicBezTo>
                <a:cubicBezTo>
                  <a:pt x="7016" y="151493"/>
                  <a:pt x="10052" y="150874"/>
                  <a:pt x="12086" y="148869"/>
                </a:cubicBezTo>
                <a:lnTo>
                  <a:pt x="27357" y="133599"/>
                </a:lnTo>
                <a:cubicBezTo>
                  <a:pt x="40386" y="144418"/>
                  <a:pt x="57189" y="150933"/>
                  <a:pt x="75466" y="150933"/>
                </a:cubicBezTo>
                <a:cubicBezTo>
                  <a:pt x="113494" y="150933"/>
                  <a:pt x="144948" y="122810"/>
                  <a:pt x="150166" y="8622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856" y="4231669"/>
            <a:ext cx="155963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Kinetic energy conversion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5406" y="4841060"/>
            <a:ext cx="5659972" cy="1685414"/>
          </a:xfrm>
          <a:custGeom>
            <a:avLst/>
            <a:gdLst/>
            <a:ahLst/>
            <a:cxnLst/>
            <a:rect l="l" t="t" r="r" b="b"/>
            <a:pathLst>
              <a:path w="5659972" h="1685414">
                <a:moveTo>
                  <a:pt x="100619" y="0"/>
                </a:moveTo>
                <a:lnTo>
                  <a:pt x="5559353" y="0"/>
                </a:lnTo>
                <a:cubicBezTo>
                  <a:pt x="5614924" y="0"/>
                  <a:pt x="5659972" y="45049"/>
                  <a:pt x="5659972" y="100619"/>
                </a:cubicBezTo>
                <a:lnTo>
                  <a:pt x="5659972" y="1584795"/>
                </a:lnTo>
                <a:cubicBezTo>
                  <a:pt x="5659972" y="1640365"/>
                  <a:pt x="5614924" y="1685414"/>
                  <a:pt x="5559353" y="1685414"/>
                </a:cubicBezTo>
                <a:lnTo>
                  <a:pt x="100619" y="1685414"/>
                </a:lnTo>
                <a:cubicBezTo>
                  <a:pt x="45049" y="1685414"/>
                  <a:pt x="0" y="1640365"/>
                  <a:pt x="0" y="1584795"/>
                </a:cubicBezTo>
                <a:lnTo>
                  <a:pt x="0" y="100619"/>
                </a:lnTo>
                <a:cubicBezTo>
                  <a:pt x="0" y="45049"/>
                  <a:pt x="45049" y="0"/>
                  <a:pt x="1006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155" dist="838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3109" y="5008762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1" name="Text 19"/>
          <p:cNvSpPr/>
          <p:nvPr/>
        </p:nvSpPr>
        <p:spPr>
          <a:xfrm>
            <a:off x="465376" y="5008762"/>
            <a:ext cx="410872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136" y="5059073"/>
            <a:ext cx="168541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Electricity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3109" y="5478331"/>
            <a:ext cx="5391648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spinning turbine drives a generator, converting mechanical energy into electrical energy through electromagnetic induction. Power is then transmitted to the grid.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505" y="6073676"/>
            <a:ext cx="132066" cy="150933"/>
          </a:xfrm>
          <a:custGeom>
            <a:avLst/>
            <a:gdLst/>
            <a:ahLst/>
            <a:cxnLst/>
            <a:rect l="l" t="t" r="r" b="b"/>
            <a:pathLst>
              <a:path w="132066" h="150933">
                <a:moveTo>
                  <a:pt x="99875" y="-2918"/>
                </a:moveTo>
                <a:cubicBezTo>
                  <a:pt x="103383" y="-383"/>
                  <a:pt x="104680" y="4216"/>
                  <a:pt x="103088" y="8225"/>
                </a:cubicBezTo>
                <a:lnTo>
                  <a:pt x="79977" y="66033"/>
                </a:lnTo>
                <a:lnTo>
                  <a:pt x="122633" y="66033"/>
                </a:lnTo>
                <a:cubicBezTo>
                  <a:pt x="126612" y="66033"/>
                  <a:pt x="130150" y="68509"/>
                  <a:pt x="131506" y="72253"/>
                </a:cubicBezTo>
                <a:cubicBezTo>
                  <a:pt x="132862" y="75997"/>
                  <a:pt x="131712" y="80183"/>
                  <a:pt x="128676" y="82718"/>
                </a:cubicBezTo>
                <a:lnTo>
                  <a:pt x="43776" y="153468"/>
                </a:lnTo>
                <a:cubicBezTo>
                  <a:pt x="40445" y="156239"/>
                  <a:pt x="35699" y="156386"/>
                  <a:pt x="32191" y="153851"/>
                </a:cubicBezTo>
                <a:cubicBezTo>
                  <a:pt x="28683" y="151316"/>
                  <a:pt x="27386" y="146717"/>
                  <a:pt x="28978" y="142708"/>
                </a:cubicBezTo>
                <a:lnTo>
                  <a:pt x="52089" y="84900"/>
                </a:lnTo>
                <a:lnTo>
                  <a:pt x="9433" y="84900"/>
                </a:lnTo>
                <a:cubicBezTo>
                  <a:pt x="5454" y="84900"/>
                  <a:pt x="1916" y="82423"/>
                  <a:pt x="560" y="78680"/>
                </a:cubicBezTo>
                <a:cubicBezTo>
                  <a:pt x="-796" y="74936"/>
                  <a:pt x="354" y="70750"/>
                  <a:pt x="3390" y="68214"/>
                </a:cubicBezTo>
                <a:lnTo>
                  <a:pt x="88290" y="-2535"/>
                </a:lnTo>
                <a:cubicBezTo>
                  <a:pt x="91621" y="-5306"/>
                  <a:pt x="96367" y="-5454"/>
                  <a:pt x="99875" y="-291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758856" y="6048520"/>
            <a:ext cx="1408704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electricity output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7461" y="1207461"/>
            <a:ext cx="5659972" cy="4058410"/>
          </a:xfrm>
          <a:custGeom>
            <a:avLst/>
            <a:gdLst/>
            <a:ahLst/>
            <a:cxnLst/>
            <a:rect l="l" t="t" r="r" b="b"/>
            <a:pathLst>
              <a:path w="5659972" h="4058410">
                <a:moveTo>
                  <a:pt x="100608" y="0"/>
                </a:moveTo>
                <a:lnTo>
                  <a:pt x="5559365" y="0"/>
                </a:lnTo>
                <a:cubicBezTo>
                  <a:pt x="5614929" y="0"/>
                  <a:pt x="5659972" y="45044"/>
                  <a:pt x="5659972" y="100608"/>
                </a:cubicBezTo>
                <a:lnTo>
                  <a:pt x="5659972" y="3957802"/>
                </a:lnTo>
                <a:cubicBezTo>
                  <a:pt x="5659972" y="4013366"/>
                  <a:pt x="5614929" y="4058410"/>
                  <a:pt x="5559365" y="4058410"/>
                </a:cubicBezTo>
                <a:lnTo>
                  <a:pt x="100608" y="4058410"/>
                </a:lnTo>
                <a:cubicBezTo>
                  <a:pt x="45044" y="4058410"/>
                  <a:pt x="0" y="4013366"/>
                  <a:pt x="0" y="3957802"/>
                </a:cubicBezTo>
                <a:lnTo>
                  <a:pt x="0" y="100608"/>
                </a:lnTo>
                <a:cubicBezTo>
                  <a:pt x="0" y="45044"/>
                  <a:pt x="45044" y="0"/>
                  <a:pt x="100608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27" name="Text 25"/>
          <p:cNvSpPr/>
          <p:nvPr/>
        </p:nvSpPr>
        <p:spPr>
          <a:xfrm>
            <a:off x="6398704" y="1408704"/>
            <a:ext cx="535810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Types of Hydroelectric Installations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8704" y="1844627"/>
            <a:ext cx="5257486" cy="788204"/>
          </a:xfrm>
          <a:custGeom>
            <a:avLst/>
            <a:gdLst/>
            <a:ahLst/>
            <a:cxnLst/>
            <a:rect l="l" t="t" r="r" b="b"/>
            <a:pathLst>
              <a:path w="5257486" h="788204">
                <a:moveTo>
                  <a:pt x="67084" y="0"/>
                </a:moveTo>
                <a:lnTo>
                  <a:pt x="5190402" y="0"/>
                </a:lnTo>
                <a:cubicBezTo>
                  <a:pt x="5227451" y="0"/>
                  <a:pt x="5257486" y="30035"/>
                  <a:pt x="5257486" y="67084"/>
                </a:cubicBezTo>
                <a:lnTo>
                  <a:pt x="5257486" y="721120"/>
                </a:lnTo>
                <a:cubicBezTo>
                  <a:pt x="5257486" y="758169"/>
                  <a:pt x="5227451" y="788204"/>
                  <a:pt x="5190402" y="788204"/>
                </a:cubicBezTo>
                <a:lnTo>
                  <a:pt x="67084" y="788204"/>
                </a:lnTo>
                <a:cubicBezTo>
                  <a:pt x="30059" y="788204"/>
                  <a:pt x="0" y="758144"/>
                  <a:pt x="0" y="721120"/>
                </a:cubicBezTo>
                <a:lnTo>
                  <a:pt x="0" y="67084"/>
                </a:lnTo>
                <a:cubicBezTo>
                  <a:pt x="0" y="30059"/>
                  <a:pt x="30059" y="0"/>
                  <a:pt x="670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53829" y="2012330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21585" y="74844"/>
                </a:moveTo>
                <a:cubicBezTo>
                  <a:pt x="25942" y="44382"/>
                  <a:pt x="52178" y="20963"/>
                  <a:pt x="83851" y="20963"/>
                </a:cubicBezTo>
                <a:cubicBezTo>
                  <a:pt x="101211" y="20963"/>
                  <a:pt x="116933" y="28005"/>
                  <a:pt x="128332" y="39371"/>
                </a:cubicBezTo>
                <a:cubicBezTo>
                  <a:pt x="128398" y="39436"/>
                  <a:pt x="128463" y="39502"/>
                  <a:pt x="128529" y="39567"/>
                </a:cubicBezTo>
                <a:lnTo>
                  <a:pt x="131018" y="41926"/>
                </a:lnTo>
                <a:lnTo>
                  <a:pt x="115328" y="41926"/>
                </a:lnTo>
                <a:cubicBezTo>
                  <a:pt x="109531" y="41926"/>
                  <a:pt x="104847" y="46610"/>
                  <a:pt x="104847" y="52407"/>
                </a:cubicBezTo>
                <a:cubicBezTo>
                  <a:pt x="104847" y="58205"/>
                  <a:pt x="109531" y="62889"/>
                  <a:pt x="115328" y="62889"/>
                </a:cubicBezTo>
                <a:lnTo>
                  <a:pt x="157254" y="62889"/>
                </a:lnTo>
                <a:cubicBezTo>
                  <a:pt x="163052" y="62889"/>
                  <a:pt x="167736" y="58205"/>
                  <a:pt x="167736" y="52407"/>
                </a:cubicBezTo>
                <a:lnTo>
                  <a:pt x="167736" y="10481"/>
                </a:lnTo>
                <a:cubicBezTo>
                  <a:pt x="167736" y="4684"/>
                  <a:pt x="163052" y="0"/>
                  <a:pt x="157254" y="0"/>
                </a:cubicBezTo>
                <a:cubicBezTo>
                  <a:pt x="151457" y="0"/>
                  <a:pt x="146773" y="4684"/>
                  <a:pt x="146773" y="10481"/>
                </a:cubicBezTo>
                <a:lnTo>
                  <a:pt x="146773" y="27972"/>
                </a:lnTo>
                <a:lnTo>
                  <a:pt x="143072" y="24468"/>
                </a:lnTo>
                <a:cubicBezTo>
                  <a:pt x="127906" y="9368"/>
                  <a:pt x="106943" y="0"/>
                  <a:pt x="83851" y="0"/>
                </a:cubicBezTo>
                <a:cubicBezTo>
                  <a:pt x="41598" y="0"/>
                  <a:pt x="6649" y="31248"/>
                  <a:pt x="852" y="71896"/>
                </a:cubicBezTo>
                <a:cubicBezTo>
                  <a:pt x="33" y="77628"/>
                  <a:pt x="3996" y="82934"/>
                  <a:pt x="9728" y="83753"/>
                </a:cubicBezTo>
                <a:cubicBezTo>
                  <a:pt x="15460" y="84572"/>
                  <a:pt x="20766" y="80576"/>
                  <a:pt x="21585" y="74877"/>
                </a:cubicBezTo>
                <a:close/>
                <a:moveTo>
                  <a:pt x="166851" y="95807"/>
                </a:moveTo>
                <a:cubicBezTo>
                  <a:pt x="167670" y="90075"/>
                  <a:pt x="163674" y="84769"/>
                  <a:pt x="157975" y="83950"/>
                </a:cubicBezTo>
                <a:cubicBezTo>
                  <a:pt x="152276" y="83131"/>
                  <a:pt x="146937" y="87127"/>
                  <a:pt x="146118" y="92826"/>
                </a:cubicBezTo>
                <a:cubicBezTo>
                  <a:pt x="141761" y="123288"/>
                  <a:pt x="115525" y="146707"/>
                  <a:pt x="83851" y="146707"/>
                </a:cubicBezTo>
                <a:cubicBezTo>
                  <a:pt x="66492" y="146707"/>
                  <a:pt x="50769" y="139665"/>
                  <a:pt x="39371" y="128299"/>
                </a:cubicBezTo>
                <a:cubicBezTo>
                  <a:pt x="39305" y="128234"/>
                  <a:pt x="39240" y="128168"/>
                  <a:pt x="39174" y="128103"/>
                </a:cubicBezTo>
                <a:lnTo>
                  <a:pt x="36685" y="125744"/>
                </a:lnTo>
                <a:lnTo>
                  <a:pt x="52374" y="125744"/>
                </a:lnTo>
                <a:cubicBezTo>
                  <a:pt x="58172" y="125744"/>
                  <a:pt x="62856" y="121061"/>
                  <a:pt x="62856" y="115263"/>
                </a:cubicBezTo>
                <a:cubicBezTo>
                  <a:pt x="62856" y="109465"/>
                  <a:pt x="58172" y="104782"/>
                  <a:pt x="52374" y="104782"/>
                </a:cubicBezTo>
                <a:lnTo>
                  <a:pt x="10481" y="104814"/>
                </a:lnTo>
                <a:cubicBezTo>
                  <a:pt x="7697" y="104814"/>
                  <a:pt x="5011" y="105928"/>
                  <a:pt x="3046" y="107926"/>
                </a:cubicBezTo>
                <a:cubicBezTo>
                  <a:pt x="1081" y="109924"/>
                  <a:pt x="-33" y="112577"/>
                  <a:pt x="0" y="115394"/>
                </a:cubicBezTo>
                <a:lnTo>
                  <a:pt x="328" y="156992"/>
                </a:lnTo>
                <a:cubicBezTo>
                  <a:pt x="360" y="162790"/>
                  <a:pt x="5110" y="167441"/>
                  <a:pt x="10907" y="167375"/>
                </a:cubicBezTo>
                <a:cubicBezTo>
                  <a:pt x="16705" y="167310"/>
                  <a:pt x="21356" y="162593"/>
                  <a:pt x="21290" y="156796"/>
                </a:cubicBezTo>
                <a:lnTo>
                  <a:pt x="21159" y="139927"/>
                </a:lnTo>
                <a:lnTo>
                  <a:pt x="24664" y="143235"/>
                </a:lnTo>
                <a:cubicBezTo>
                  <a:pt x="39829" y="158335"/>
                  <a:pt x="60760" y="167703"/>
                  <a:pt x="83851" y="167703"/>
                </a:cubicBezTo>
                <a:cubicBezTo>
                  <a:pt x="126105" y="167703"/>
                  <a:pt x="161054" y="136455"/>
                  <a:pt x="166851" y="95807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0" name="Text 28"/>
          <p:cNvSpPr/>
          <p:nvPr/>
        </p:nvSpPr>
        <p:spPr>
          <a:xfrm>
            <a:off x="6843117" y="1978790"/>
            <a:ext cx="98944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Dams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2866" y="2280655"/>
            <a:ext cx="5056242" cy="218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reservoirs store water for consistent power generation and grid stability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8704" y="2766993"/>
            <a:ext cx="5257486" cy="788204"/>
          </a:xfrm>
          <a:custGeom>
            <a:avLst/>
            <a:gdLst/>
            <a:ahLst/>
            <a:cxnLst/>
            <a:rect l="l" t="t" r="r" b="b"/>
            <a:pathLst>
              <a:path w="5257486" h="788204">
                <a:moveTo>
                  <a:pt x="67084" y="0"/>
                </a:moveTo>
                <a:lnTo>
                  <a:pt x="5190402" y="0"/>
                </a:lnTo>
                <a:cubicBezTo>
                  <a:pt x="5227451" y="0"/>
                  <a:pt x="5257486" y="30035"/>
                  <a:pt x="5257486" y="67084"/>
                </a:cubicBezTo>
                <a:lnTo>
                  <a:pt x="5257486" y="721120"/>
                </a:lnTo>
                <a:cubicBezTo>
                  <a:pt x="5257486" y="758169"/>
                  <a:pt x="5227451" y="788204"/>
                  <a:pt x="5190402" y="788204"/>
                </a:cubicBezTo>
                <a:lnTo>
                  <a:pt x="67084" y="788204"/>
                </a:lnTo>
                <a:cubicBezTo>
                  <a:pt x="30059" y="788204"/>
                  <a:pt x="0" y="758144"/>
                  <a:pt x="0" y="721120"/>
                </a:cubicBezTo>
                <a:lnTo>
                  <a:pt x="0" y="67084"/>
                </a:lnTo>
                <a:cubicBezTo>
                  <a:pt x="0" y="30059"/>
                  <a:pt x="30059" y="0"/>
                  <a:pt x="670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3829" y="2934696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0" y="31444"/>
                </a:moveTo>
                <a:cubicBezTo>
                  <a:pt x="0" y="25647"/>
                  <a:pt x="4684" y="20963"/>
                  <a:pt x="10481" y="20963"/>
                </a:cubicBezTo>
                <a:lnTo>
                  <a:pt x="136259" y="20963"/>
                </a:lnTo>
                <a:cubicBezTo>
                  <a:pt x="142056" y="20963"/>
                  <a:pt x="146740" y="25647"/>
                  <a:pt x="146740" y="31444"/>
                </a:cubicBezTo>
                <a:cubicBezTo>
                  <a:pt x="146740" y="37242"/>
                  <a:pt x="142056" y="41926"/>
                  <a:pt x="136259" y="41926"/>
                </a:cubicBezTo>
                <a:lnTo>
                  <a:pt x="10481" y="41926"/>
                </a:lnTo>
                <a:cubicBezTo>
                  <a:pt x="4684" y="41926"/>
                  <a:pt x="0" y="37242"/>
                  <a:pt x="0" y="31444"/>
                </a:cubicBezTo>
                <a:close/>
                <a:moveTo>
                  <a:pt x="20963" y="83851"/>
                </a:moveTo>
                <a:cubicBezTo>
                  <a:pt x="20963" y="78054"/>
                  <a:pt x="25647" y="73370"/>
                  <a:pt x="31444" y="73370"/>
                </a:cubicBezTo>
                <a:lnTo>
                  <a:pt x="157221" y="73370"/>
                </a:lnTo>
                <a:cubicBezTo>
                  <a:pt x="163019" y="73370"/>
                  <a:pt x="167703" y="78054"/>
                  <a:pt x="167703" y="83851"/>
                </a:cubicBezTo>
                <a:cubicBezTo>
                  <a:pt x="167703" y="89649"/>
                  <a:pt x="163019" y="94333"/>
                  <a:pt x="157221" y="94333"/>
                </a:cubicBezTo>
                <a:lnTo>
                  <a:pt x="31444" y="94333"/>
                </a:lnTo>
                <a:cubicBezTo>
                  <a:pt x="25647" y="94333"/>
                  <a:pt x="20963" y="89649"/>
                  <a:pt x="20963" y="83851"/>
                </a:cubicBezTo>
                <a:close/>
                <a:moveTo>
                  <a:pt x="146740" y="136259"/>
                </a:moveTo>
                <a:cubicBezTo>
                  <a:pt x="146740" y="142056"/>
                  <a:pt x="142056" y="146740"/>
                  <a:pt x="136259" y="146740"/>
                </a:cubicBezTo>
                <a:lnTo>
                  <a:pt x="10481" y="146740"/>
                </a:lnTo>
                <a:cubicBezTo>
                  <a:pt x="4684" y="146740"/>
                  <a:pt x="0" y="142056"/>
                  <a:pt x="0" y="136259"/>
                </a:cubicBezTo>
                <a:cubicBezTo>
                  <a:pt x="0" y="130461"/>
                  <a:pt x="4684" y="125777"/>
                  <a:pt x="10481" y="125777"/>
                </a:cubicBezTo>
                <a:lnTo>
                  <a:pt x="136259" y="125777"/>
                </a:lnTo>
                <a:cubicBezTo>
                  <a:pt x="142056" y="125777"/>
                  <a:pt x="146740" y="130461"/>
                  <a:pt x="146740" y="13625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4" name="Text 32"/>
          <p:cNvSpPr/>
          <p:nvPr/>
        </p:nvSpPr>
        <p:spPr>
          <a:xfrm>
            <a:off x="6843117" y="2901156"/>
            <a:ext cx="939136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Run-of-River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2866" y="3203021"/>
            <a:ext cx="5056242" cy="218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natural river flow with minimal environmental disruption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8704" y="3689359"/>
            <a:ext cx="5257486" cy="788204"/>
          </a:xfrm>
          <a:custGeom>
            <a:avLst/>
            <a:gdLst/>
            <a:ahLst/>
            <a:cxnLst/>
            <a:rect l="l" t="t" r="r" b="b"/>
            <a:pathLst>
              <a:path w="5257486" h="788204">
                <a:moveTo>
                  <a:pt x="67084" y="0"/>
                </a:moveTo>
                <a:lnTo>
                  <a:pt x="5190402" y="0"/>
                </a:lnTo>
                <a:cubicBezTo>
                  <a:pt x="5227451" y="0"/>
                  <a:pt x="5257486" y="30035"/>
                  <a:pt x="5257486" y="67084"/>
                </a:cubicBezTo>
                <a:lnTo>
                  <a:pt x="5257486" y="721120"/>
                </a:lnTo>
                <a:cubicBezTo>
                  <a:pt x="5257486" y="758169"/>
                  <a:pt x="5227451" y="788204"/>
                  <a:pt x="5190402" y="788204"/>
                </a:cubicBezTo>
                <a:lnTo>
                  <a:pt x="67084" y="788204"/>
                </a:lnTo>
                <a:cubicBezTo>
                  <a:pt x="30059" y="788204"/>
                  <a:pt x="0" y="758144"/>
                  <a:pt x="0" y="721120"/>
                </a:cubicBezTo>
                <a:lnTo>
                  <a:pt x="0" y="67084"/>
                </a:lnTo>
                <a:cubicBezTo>
                  <a:pt x="0" y="30059"/>
                  <a:pt x="30059" y="0"/>
                  <a:pt x="670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5273" y="3857062"/>
            <a:ext cx="104814" cy="167703"/>
          </a:xfrm>
          <a:custGeom>
            <a:avLst/>
            <a:gdLst/>
            <a:ahLst/>
            <a:cxnLst/>
            <a:rect l="l" t="t" r="r" b="b"/>
            <a:pathLst>
              <a:path w="104814" h="167703">
                <a:moveTo>
                  <a:pt x="31444" y="0"/>
                </a:moveTo>
                <a:lnTo>
                  <a:pt x="31444" y="26204"/>
                </a:lnTo>
                <a:lnTo>
                  <a:pt x="73370" y="26204"/>
                </a:lnTo>
                <a:lnTo>
                  <a:pt x="73370" y="18343"/>
                </a:lnTo>
                <a:lnTo>
                  <a:pt x="96953" y="18343"/>
                </a:lnTo>
                <a:cubicBezTo>
                  <a:pt x="101310" y="18343"/>
                  <a:pt x="104814" y="14838"/>
                  <a:pt x="104814" y="10481"/>
                </a:cubicBezTo>
                <a:cubicBezTo>
                  <a:pt x="104814" y="6125"/>
                  <a:pt x="101310" y="2620"/>
                  <a:pt x="96953" y="2620"/>
                </a:cubicBezTo>
                <a:lnTo>
                  <a:pt x="73370" y="2620"/>
                </a:lnTo>
                <a:lnTo>
                  <a:pt x="73370" y="0"/>
                </a:lnTo>
                <a:cubicBezTo>
                  <a:pt x="73370" y="-5798"/>
                  <a:pt x="68686" y="-10481"/>
                  <a:pt x="62889" y="-10481"/>
                </a:cubicBezTo>
                <a:lnTo>
                  <a:pt x="41926" y="-10481"/>
                </a:lnTo>
                <a:cubicBezTo>
                  <a:pt x="36128" y="-10481"/>
                  <a:pt x="31444" y="-5798"/>
                  <a:pt x="31444" y="0"/>
                </a:cubicBezTo>
                <a:close/>
                <a:moveTo>
                  <a:pt x="20963" y="41926"/>
                </a:moveTo>
                <a:cubicBezTo>
                  <a:pt x="9401" y="41926"/>
                  <a:pt x="0" y="51326"/>
                  <a:pt x="0" y="62889"/>
                </a:cubicBezTo>
                <a:lnTo>
                  <a:pt x="0" y="146740"/>
                </a:lnTo>
                <a:cubicBezTo>
                  <a:pt x="0" y="158302"/>
                  <a:pt x="9401" y="167703"/>
                  <a:pt x="20963" y="167703"/>
                </a:cubicBezTo>
                <a:lnTo>
                  <a:pt x="83851" y="167703"/>
                </a:lnTo>
                <a:cubicBezTo>
                  <a:pt x="95414" y="167703"/>
                  <a:pt x="104814" y="158302"/>
                  <a:pt x="104814" y="146740"/>
                </a:cubicBezTo>
                <a:lnTo>
                  <a:pt x="104814" y="62889"/>
                </a:lnTo>
                <a:cubicBezTo>
                  <a:pt x="104814" y="51326"/>
                  <a:pt x="95414" y="41926"/>
                  <a:pt x="83851" y="41926"/>
                </a:cubicBezTo>
                <a:lnTo>
                  <a:pt x="20963" y="41926"/>
                </a:lnTo>
                <a:close/>
                <a:moveTo>
                  <a:pt x="41926" y="81231"/>
                </a:moveTo>
                <a:cubicBezTo>
                  <a:pt x="41926" y="78349"/>
                  <a:pt x="44284" y="75990"/>
                  <a:pt x="47166" y="75990"/>
                </a:cubicBezTo>
                <a:lnTo>
                  <a:pt x="57648" y="75990"/>
                </a:lnTo>
                <a:cubicBezTo>
                  <a:pt x="60530" y="75990"/>
                  <a:pt x="62889" y="78349"/>
                  <a:pt x="62889" y="81231"/>
                </a:cubicBezTo>
                <a:lnTo>
                  <a:pt x="62889" y="94333"/>
                </a:lnTo>
                <a:lnTo>
                  <a:pt x="75990" y="94333"/>
                </a:lnTo>
                <a:cubicBezTo>
                  <a:pt x="78873" y="94333"/>
                  <a:pt x="81231" y="96691"/>
                  <a:pt x="81231" y="99574"/>
                </a:cubicBezTo>
                <a:lnTo>
                  <a:pt x="81231" y="110055"/>
                </a:lnTo>
                <a:cubicBezTo>
                  <a:pt x="81231" y="112937"/>
                  <a:pt x="78873" y="115296"/>
                  <a:pt x="75990" y="115296"/>
                </a:cubicBezTo>
                <a:lnTo>
                  <a:pt x="62889" y="115296"/>
                </a:lnTo>
                <a:lnTo>
                  <a:pt x="62889" y="128398"/>
                </a:lnTo>
                <a:cubicBezTo>
                  <a:pt x="62889" y="131280"/>
                  <a:pt x="60530" y="133638"/>
                  <a:pt x="57648" y="133638"/>
                </a:cubicBezTo>
                <a:lnTo>
                  <a:pt x="47166" y="133638"/>
                </a:lnTo>
                <a:cubicBezTo>
                  <a:pt x="44284" y="133638"/>
                  <a:pt x="41926" y="131280"/>
                  <a:pt x="41926" y="128398"/>
                </a:cubicBezTo>
                <a:lnTo>
                  <a:pt x="41926" y="115296"/>
                </a:lnTo>
                <a:lnTo>
                  <a:pt x="28824" y="115296"/>
                </a:lnTo>
                <a:cubicBezTo>
                  <a:pt x="25942" y="115296"/>
                  <a:pt x="23583" y="112937"/>
                  <a:pt x="23583" y="110055"/>
                </a:cubicBezTo>
                <a:lnTo>
                  <a:pt x="23583" y="99574"/>
                </a:lnTo>
                <a:cubicBezTo>
                  <a:pt x="23583" y="96691"/>
                  <a:pt x="25942" y="94333"/>
                  <a:pt x="28824" y="94333"/>
                </a:cubicBezTo>
                <a:lnTo>
                  <a:pt x="41926" y="94333"/>
                </a:lnTo>
                <a:lnTo>
                  <a:pt x="41926" y="8123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8" name="Text 36"/>
          <p:cNvSpPr/>
          <p:nvPr/>
        </p:nvSpPr>
        <p:spPr>
          <a:xfrm>
            <a:off x="6843117" y="3823521"/>
            <a:ext cx="1157150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Pumped Storage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2866" y="4125387"/>
            <a:ext cx="5056242" cy="218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Acts as giant batteries, storing energy by pumping water uphill during low demand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00815" y="5406742"/>
            <a:ext cx="5658295" cy="1113547"/>
          </a:xfrm>
          <a:custGeom>
            <a:avLst/>
            <a:gdLst/>
            <a:ahLst/>
            <a:cxnLst/>
            <a:rect l="l" t="t" r="r" b="b"/>
            <a:pathLst>
              <a:path w="5658295" h="1113547">
                <a:moveTo>
                  <a:pt x="100620" y="0"/>
                </a:moveTo>
                <a:lnTo>
                  <a:pt x="5557675" y="0"/>
                </a:lnTo>
                <a:cubicBezTo>
                  <a:pt x="5613246" y="0"/>
                  <a:pt x="5658295" y="45049"/>
                  <a:pt x="5658295" y="100620"/>
                </a:cubicBezTo>
                <a:lnTo>
                  <a:pt x="5658295" y="1012927"/>
                </a:lnTo>
                <a:cubicBezTo>
                  <a:pt x="5658295" y="1068498"/>
                  <a:pt x="5613246" y="1113547"/>
                  <a:pt x="5557675" y="1113547"/>
                </a:cubicBezTo>
                <a:lnTo>
                  <a:pt x="100620" y="1113547"/>
                </a:lnTo>
                <a:cubicBezTo>
                  <a:pt x="45086" y="1113547"/>
                  <a:pt x="0" y="1068461"/>
                  <a:pt x="0" y="1012927"/>
                </a:cubicBezTo>
                <a:lnTo>
                  <a:pt x="0" y="100620"/>
                </a:lnTo>
                <a:cubicBezTo>
                  <a:pt x="0" y="45049"/>
                  <a:pt x="45049" y="0"/>
                  <a:pt x="10062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 w="10160">
            <a:solidFill>
              <a:srgbClr val="4C8A7A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4449" y="5594568"/>
            <a:ext cx="226399" cy="201243"/>
          </a:xfrm>
          <a:custGeom>
            <a:avLst/>
            <a:gdLst/>
            <a:ahLst/>
            <a:cxnLst/>
            <a:rect l="l" t="t" r="r" b="b"/>
            <a:pathLst>
              <a:path w="226399" h="201243">
                <a:moveTo>
                  <a:pt x="113199" y="25155"/>
                </a:moveTo>
                <a:cubicBezTo>
                  <a:pt x="154863" y="25155"/>
                  <a:pt x="188666" y="58958"/>
                  <a:pt x="188666" y="100622"/>
                </a:cubicBezTo>
                <a:cubicBezTo>
                  <a:pt x="188666" y="142285"/>
                  <a:pt x="154863" y="176088"/>
                  <a:pt x="113199" y="176088"/>
                </a:cubicBezTo>
                <a:cubicBezTo>
                  <a:pt x="87572" y="176088"/>
                  <a:pt x="64893" y="163314"/>
                  <a:pt x="51254" y="143740"/>
                </a:cubicBezTo>
                <a:cubicBezTo>
                  <a:pt x="47284" y="138040"/>
                  <a:pt x="39423" y="136665"/>
                  <a:pt x="33724" y="140635"/>
                </a:cubicBezTo>
                <a:cubicBezTo>
                  <a:pt x="28025" y="144604"/>
                  <a:pt x="26649" y="152466"/>
                  <a:pt x="30619" y="158165"/>
                </a:cubicBezTo>
                <a:cubicBezTo>
                  <a:pt x="48778" y="184185"/>
                  <a:pt x="79004" y="201243"/>
                  <a:pt x="113199" y="201243"/>
                </a:cubicBezTo>
                <a:cubicBezTo>
                  <a:pt x="168777" y="201243"/>
                  <a:pt x="213821" y="156200"/>
                  <a:pt x="213821" y="100622"/>
                </a:cubicBezTo>
                <a:cubicBezTo>
                  <a:pt x="213821" y="45044"/>
                  <a:pt x="168777" y="0"/>
                  <a:pt x="113199" y="0"/>
                </a:cubicBezTo>
                <a:cubicBezTo>
                  <a:pt x="79515" y="0"/>
                  <a:pt x="49721" y="16548"/>
                  <a:pt x="31444" y="41939"/>
                </a:cubicBezTo>
                <a:lnTo>
                  <a:pt x="31444" y="31444"/>
                </a:lnTo>
                <a:cubicBezTo>
                  <a:pt x="31444" y="24487"/>
                  <a:pt x="25824" y="18867"/>
                  <a:pt x="18867" y="18867"/>
                </a:cubicBezTo>
                <a:cubicBezTo>
                  <a:pt x="11910" y="18867"/>
                  <a:pt x="6289" y="24487"/>
                  <a:pt x="6289" y="31444"/>
                </a:cubicBezTo>
                <a:lnTo>
                  <a:pt x="6289" y="75466"/>
                </a:lnTo>
                <a:cubicBezTo>
                  <a:pt x="6289" y="82423"/>
                  <a:pt x="11910" y="88044"/>
                  <a:pt x="18867" y="88044"/>
                </a:cubicBezTo>
                <a:lnTo>
                  <a:pt x="28536" y="88044"/>
                </a:lnTo>
                <a:cubicBezTo>
                  <a:pt x="28732" y="88044"/>
                  <a:pt x="28929" y="88044"/>
                  <a:pt x="29125" y="88044"/>
                </a:cubicBezTo>
                <a:lnTo>
                  <a:pt x="62928" y="88044"/>
                </a:lnTo>
                <a:cubicBezTo>
                  <a:pt x="69885" y="88044"/>
                  <a:pt x="75506" y="82423"/>
                  <a:pt x="75506" y="75466"/>
                </a:cubicBezTo>
                <a:cubicBezTo>
                  <a:pt x="75506" y="68509"/>
                  <a:pt x="69885" y="62889"/>
                  <a:pt x="62928" y="62889"/>
                </a:cubicBezTo>
                <a:lnTo>
                  <a:pt x="47874" y="62889"/>
                </a:lnTo>
                <a:cubicBezTo>
                  <a:pt x="60884" y="40327"/>
                  <a:pt x="85293" y="25155"/>
                  <a:pt x="113199" y="25155"/>
                </a:cubicBezTo>
                <a:close/>
                <a:moveTo>
                  <a:pt x="122633" y="59744"/>
                </a:moveTo>
                <a:cubicBezTo>
                  <a:pt x="122633" y="54517"/>
                  <a:pt x="118427" y="50311"/>
                  <a:pt x="113199" y="50311"/>
                </a:cubicBezTo>
                <a:cubicBezTo>
                  <a:pt x="107972" y="50311"/>
                  <a:pt x="103766" y="54517"/>
                  <a:pt x="103766" y="59744"/>
                </a:cubicBezTo>
                <a:lnTo>
                  <a:pt x="103766" y="100622"/>
                </a:lnTo>
                <a:cubicBezTo>
                  <a:pt x="103766" y="103137"/>
                  <a:pt x="104749" y="105535"/>
                  <a:pt x="106518" y="107304"/>
                </a:cubicBezTo>
                <a:lnTo>
                  <a:pt x="134817" y="135604"/>
                </a:lnTo>
                <a:cubicBezTo>
                  <a:pt x="138512" y="139298"/>
                  <a:pt x="144487" y="139298"/>
                  <a:pt x="148142" y="135604"/>
                </a:cubicBezTo>
                <a:cubicBezTo>
                  <a:pt x="151797" y="131909"/>
                  <a:pt x="151837" y="125934"/>
                  <a:pt x="148142" y="122279"/>
                </a:cubicBezTo>
                <a:lnTo>
                  <a:pt x="122593" y="96731"/>
                </a:lnTo>
                <a:lnTo>
                  <a:pt x="122593" y="59744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2" name="Text 40"/>
          <p:cNvSpPr/>
          <p:nvPr/>
        </p:nvSpPr>
        <p:spPr>
          <a:xfrm>
            <a:off x="6724048" y="5577798"/>
            <a:ext cx="170218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Historical Significance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71871" y="5913203"/>
            <a:ext cx="5383263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Hydropower is one of humanity's oldest energy sources, with water wheels dating back thousands of years. Today it provides 16% of global electricity.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Hydroelectric Energy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Benefits and Applications of Hydropower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1600"/>
            <a:ext cx="3286125" cy="1952625"/>
          </a:xfrm>
          <a:custGeom>
            <a:avLst/>
            <a:gdLst/>
            <a:ahLst/>
            <a:cxnLst/>
            <a:rect l="l" t="t" r="r" b="b"/>
            <a:pathLst>
              <a:path w="3286125" h="1952625">
                <a:moveTo>
                  <a:pt x="114307" y="0"/>
                </a:moveTo>
                <a:lnTo>
                  <a:pt x="3171818" y="0"/>
                </a:lnTo>
                <a:cubicBezTo>
                  <a:pt x="3234948" y="0"/>
                  <a:pt x="3286125" y="51177"/>
                  <a:pt x="3286125" y="114307"/>
                </a:cubicBezTo>
                <a:lnTo>
                  <a:pt x="3286125" y="1838318"/>
                </a:lnTo>
                <a:cubicBezTo>
                  <a:pt x="3286125" y="1901448"/>
                  <a:pt x="3234948" y="1952625"/>
                  <a:pt x="3171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6573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Reliable Baseload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33600"/>
            <a:ext cx="2981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solar and wind, hydropower provides consistent electricity 24/7, making it ideal for baseload power supply and grid stability.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7620" y="1371600"/>
            <a:ext cx="3286125" cy="1952625"/>
          </a:xfrm>
          <a:custGeom>
            <a:avLst/>
            <a:gdLst/>
            <a:ahLst/>
            <a:cxnLst/>
            <a:rect l="l" t="t" r="r" b="b"/>
            <a:pathLst>
              <a:path w="3286125" h="1952625">
                <a:moveTo>
                  <a:pt x="114307" y="0"/>
                </a:moveTo>
                <a:lnTo>
                  <a:pt x="3171818" y="0"/>
                </a:lnTo>
                <a:cubicBezTo>
                  <a:pt x="3234948" y="0"/>
                  <a:pt x="3286125" y="51177"/>
                  <a:pt x="3286125" y="114307"/>
                </a:cubicBezTo>
                <a:lnTo>
                  <a:pt x="3286125" y="1838318"/>
                </a:lnTo>
                <a:cubicBezTo>
                  <a:pt x="3286125" y="1901448"/>
                  <a:pt x="3234948" y="1952625"/>
                  <a:pt x="3171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812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4147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9620" y="16573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Clean Energy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8120" y="2133600"/>
            <a:ext cx="2981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minimal greenhouse gas emissions during operation—far less than fossil fuels. Lifecycle emissions are among the lowest of all energy sources.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478174"/>
            <a:ext cx="3286125" cy="1952625"/>
          </a:xfrm>
          <a:custGeom>
            <a:avLst/>
            <a:gdLst/>
            <a:ahLst/>
            <a:cxnLst/>
            <a:rect l="l" t="t" r="r" b="b"/>
            <a:pathLst>
              <a:path w="3286125" h="1952625">
                <a:moveTo>
                  <a:pt x="114307" y="0"/>
                </a:moveTo>
                <a:lnTo>
                  <a:pt x="3171818" y="0"/>
                </a:lnTo>
                <a:cubicBezTo>
                  <a:pt x="3234948" y="0"/>
                  <a:pt x="3286125" y="51177"/>
                  <a:pt x="3286125" y="114307"/>
                </a:cubicBezTo>
                <a:lnTo>
                  <a:pt x="3286125" y="1838318"/>
                </a:lnTo>
                <a:cubicBezTo>
                  <a:pt x="3286125" y="1901448"/>
                  <a:pt x="3234948" y="1952625"/>
                  <a:pt x="3171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500" y="366867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756" y="380202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763924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Rapid Response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240174"/>
            <a:ext cx="2981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go from zero to full power in minutes, providing essential grid balancing services and supporting integration of variable renewables.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7620" y="3478174"/>
            <a:ext cx="3286125" cy="1952625"/>
          </a:xfrm>
          <a:custGeom>
            <a:avLst/>
            <a:gdLst/>
            <a:ahLst/>
            <a:cxnLst/>
            <a:rect l="l" t="t" r="r" b="b"/>
            <a:pathLst>
              <a:path w="3286125" h="1952625">
                <a:moveTo>
                  <a:pt x="114307" y="0"/>
                </a:moveTo>
                <a:lnTo>
                  <a:pt x="3171818" y="0"/>
                </a:lnTo>
                <a:cubicBezTo>
                  <a:pt x="3234948" y="0"/>
                  <a:pt x="3286125" y="51177"/>
                  <a:pt x="3286125" y="114307"/>
                </a:cubicBezTo>
                <a:lnTo>
                  <a:pt x="3286125" y="1838318"/>
                </a:lnTo>
                <a:cubicBezTo>
                  <a:pt x="3286125" y="1901448"/>
                  <a:pt x="3234948" y="1952625"/>
                  <a:pt x="3171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8120" y="366867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177189" y="3802024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9620" y="3763924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Long Lifespan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08120" y="4240174"/>
            <a:ext cx="2981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Hydroelectric facilities can operate for 50-100+ years with proper maintenance, providing decades of low-cost clean energy.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5588674"/>
            <a:ext cx="6713220" cy="1264920"/>
          </a:xfrm>
          <a:custGeom>
            <a:avLst/>
            <a:gdLst/>
            <a:ahLst/>
            <a:cxnLst/>
            <a:rect l="l" t="t" r="r" b="b"/>
            <a:pathLst>
              <a:path w="6713220" h="1264920">
                <a:moveTo>
                  <a:pt x="114298" y="0"/>
                </a:moveTo>
                <a:lnTo>
                  <a:pt x="6598922" y="0"/>
                </a:lnTo>
                <a:cubicBezTo>
                  <a:pt x="6662047" y="0"/>
                  <a:pt x="6713220" y="51173"/>
                  <a:pt x="6713220" y="114298"/>
                </a:cubicBezTo>
                <a:lnTo>
                  <a:pt x="6713220" y="1150622"/>
                </a:lnTo>
                <a:cubicBezTo>
                  <a:pt x="6713220" y="1213747"/>
                  <a:pt x="6662047" y="1264920"/>
                  <a:pt x="659892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 w="10160">
            <a:solidFill>
              <a:srgbClr val="4C8A7A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695" y="58020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979170" y="5782987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Multi-Purpose Benefits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9120" y="6163987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electricity, dams provide flood control, irrigation water, drinking water supply, and recreational opportunities—delivering comprehensive value to communities.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30440" y="1371600"/>
            <a:ext cx="4476750" cy="3429000"/>
          </a:xfrm>
          <a:custGeom>
            <a:avLst/>
            <a:gdLst/>
            <a:ahLst/>
            <a:cxnLst/>
            <a:rect l="l" t="t" r="r" b="b"/>
            <a:pathLst>
              <a:path w="4476750" h="3429000">
                <a:moveTo>
                  <a:pt x="114289" y="0"/>
                </a:moveTo>
                <a:lnTo>
                  <a:pt x="4362461" y="0"/>
                </a:lnTo>
                <a:cubicBezTo>
                  <a:pt x="4425539" y="0"/>
                  <a:pt x="4476750" y="51211"/>
                  <a:pt x="4476750" y="114289"/>
                </a:cubicBezTo>
                <a:lnTo>
                  <a:pt x="4476750" y="3314711"/>
                </a:lnTo>
                <a:cubicBezTo>
                  <a:pt x="4476750" y="3377831"/>
                  <a:pt x="4425581" y="3429000"/>
                  <a:pt x="4362461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30" name="Text 28"/>
          <p:cNvSpPr/>
          <p:nvPr/>
        </p:nvSpPr>
        <p:spPr>
          <a:xfrm>
            <a:off x="7559040" y="1600200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Global Hydropower Statistics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59040" y="213336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Capacity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31091" y="2095384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1,360 GW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59040" y="2476263"/>
            <a:ext cx="4019550" cy="95250"/>
          </a:xfrm>
          <a:custGeom>
            <a:avLst/>
            <a:gdLst/>
            <a:ahLst/>
            <a:cxnLst/>
            <a:rect l="l" t="t" r="r" b="b"/>
            <a:pathLst>
              <a:path w="4019550" h="95250">
                <a:moveTo>
                  <a:pt x="47625" y="0"/>
                </a:moveTo>
                <a:lnTo>
                  <a:pt x="3971925" y="0"/>
                </a:lnTo>
                <a:cubicBezTo>
                  <a:pt x="3998210" y="0"/>
                  <a:pt x="4019550" y="21340"/>
                  <a:pt x="4019550" y="47625"/>
                </a:cubicBezTo>
                <a:lnTo>
                  <a:pt x="4019550" y="47625"/>
                </a:lnTo>
                <a:cubicBezTo>
                  <a:pt x="4019550" y="73910"/>
                  <a:pt x="3998210" y="95250"/>
                  <a:pt x="3971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559040" y="2476263"/>
            <a:ext cx="2209800" cy="95250"/>
          </a:xfrm>
          <a:custGeom>
            <a:avLst/>
            <a:gdLst/>
            <a:ahLst/>
            <a:cxnLst/>
            <a:rect l="l" t="t" r="r" b="b"/>
            <a:pathLst>
              <a:path w="2209800" h="95250">
                <a:moveTo>
                  <a:pt x="47625" y="0"/>
                </a:moveTo>
                <a:lnTo>
                  <a:pt x="2162175" y="0"/>
                </a:lnTo>
                <a:cubicBezTo>
                  <a:pt x="2188460" y="0"/>
                  <a:pt x="2209800" y="21340"/>
                  <a:pt x="2209800" y="47625"/>
                </a:cubicBezTo>
                <a:lnTo>
                  <a:pt x="2209800" y="47625"/>
                </a:lnTo>
                <a:cubicBezTo>
                  <a:pt x="2209800" y="73910"/>
                  <a:pt x="2188460" y="95250"/>
                  <a:pt x="21621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5" name="Text 33"/>
          <p:cNvSpPr/>
          <p:nvPr/>
        </p:nvSpPr>
        <p:spPr>
          <a:xfrm>
            <a:off x="7559040" y="2799992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Electricity Share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214735" y="2762013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16%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59040" y="3142892"/>
            <a:ext cx="4019550" cy="95250"/>
          </a:xfrm>
          <a:custGeom>
            <a:avLst/>
            <a:gdLst/>
            <a:ahLst/>
            <a:cxnLst/>
            <a:rect l="l" t="t" r="r" b="b"/>
            <a:pathLst>
              <a:path w="4019550" h="95250">
                <a:moveTo>
                  <a:pt x="47625" y="0"/>
                </a:moveTo>
                <a:lnTo>
                  <a:pt x="3971925" y="0"/>
                </a:lnTo>
                <a:cubicBezTo>
                  <a:pt x="3998210" y="0"/>
                  <a:pt x="4019550" y="21340"/>
                  <a:pt x="4019550" y="47625"/>
                </a:cubicBezTo>
                <a:lnTo>
                  <a:pt x="4019550" y="47625"/>
                </a:lnTo>
                <a:cubicBezTo>
                  <a:pt x="4019550" y="73910"/>
                  <a:pt x="3998210" y="95250"/>
                  <a:pt x="3971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59040" y="3142892"/>
            <a:ext cx="647700" cy="95250"/>
          </a:xfrm>
          <a:custGeom>
            <a:avLst/>
            <a:gdLst/>
            <a:ahLst/>
            <a:cxnLst/>
            <a:rect l="l" t="t" r="r" b="b"/>
            <a:pathLst>
              <a:path w="647700" h="95250">
                <a:moveTo>
                  <a:pt x="47625" y="0"/>
                </a:moveTo>
                <a:lnTo>
                  <a:pt x="600075" y="0"/>
                </a:lnTo>
                <a:cubicBezTo>
                  <a:pt x="626360" y="0"/>
                  <a:pt x="647700" y="21340"/>
                  <a:pt x="647700" y="47625"/>
                </a:cubicBezTo>
                <a:lnTo>
                  <a:pt x="647700" y="47625"/>
                </a:lnTo>
                <a:cubicBezTo>
                  <a:pt x="647700" y="73910"/>
                  <a:pt x="626360" y="95250"/>
                  <a:pt x="6000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9" name="Text 37"/>
          <p:cNvSpPr/>
          <p:nvPr/>
        </p:nvSpPr>
        <p:spPr>
          <a:xfrm>
            <a:off x="7559040" y="3466626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Share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12711" y="3428642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54%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9040" y="3809526"/>
            <a:ext cx="4019550" cy="95250"/>
          </a:xfrm>
          <a:custGeom>
            <a:avLst/>
            <a:gdLst/>
            <a:ahLst/>
            <a:cxnLst/>
            <a:rect l="l" t="t" r="r" b="b"/>
            <a:pathLst>
              <a:path w="4019550" h="95250">
                <a:moveTo>
                  <a:pt x="47625" y="0"/>
                </a:moveTo>
                <a:lnTo>
                  <a:pt x="3971925" y="0"/>
                </a:lnTo>
                <a:cubicBezTo>
                  <a:pt x="3998210" y="0"/>
                  <a:pt x="4019550" y="21340"/>
                  <a:pt x="4019550" y="47625"/>
                </a:cubicBezTo>
                <a:lnTo>
                  <a:pt x="4019550" y="47625"/>
                </a:lnTo>
                <a:cubicBezTo>
                  <a:pt x="4019550" y="73910"/>
                  <a:pt x="3998210" y="95250"/>
                  <a:pt x="3971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59040" y="3809526"/>
            <a:ext cx="2171700" cy="95250"/>
          </a:xfrm>
          <a:custGeom>
            <a:avLst/>
            <a:gdLst/>
            <a:ahLst/>
            <a:cxnLst/>
            <a:rect l="l" t="t" r="r" b="b"/>
            <a:pathLst>
              <a:path w="2171700" h="95250">
                <a:moveTo>
                  <a:pt x="47625" y="0"/>
                </a:moveTo>
                <a:lnTo>
                  <a:pt x="2124075" y="0"/>
                </a:lnTo>
                <a:cubicBezTo>
                  <a:pt x="2150360" y="0"/>
                  <a:pt x="2171700" y="21340"/>
                  <a:pt x="2171700" y="47625"/>
                </a:cubicBezTo>
                <a:lnTo>
                  <a:pt x="2171700" y="47625"/>
                </a:lnTo>
                <a:cubicBezTo>
                  <a:pt x="2171700" y="73910"/>
                  <a:pt x="2150360" y="95250"/>
                  <a:pt x="21240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3" name="Text 41"/>
          <p:cNvSpPr/>
          <p:nvPr/>
        </p:nvSpPr>
        <p:spPr>
          <a:xfrm>
            <a:off x="7559040" y="4133255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Countries Using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85088" y="4095276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150+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9040" y="4476155"/>
            <a:ext cx="4019550" cy="95250"/>
          </a:xfrm>
          <a:custGeom>
            <a:avLst/>
            <a:gdLst/>
            <a:ahLst/>
            <a:cxnLst/>
            <a:rect l="l" t="t" r="r" b="b"/>
            <a:pathLst>
              <a:path w="4019550" h="95250">
                <a:moveTo>
                  <a:pt x="47625" y="0"/>
                </a:moveTo>
                <a:lnTo>
                  <a:pt x="3971925" y="0"/>
                </a:lnTo>
                <a:cubicBezTo>
                  <a:pt x="3998210" y="0"/>
                  <a:pt x="4019550" y="21340"/>
                  <a:pt x="4019550" y="47625"/>
                </a:cubicBezTo>
                <a:lnTo>
                  <a:pt x="4019550" y="47625"/>
                </a:lnTo>
                <a:cubicBezTo>
                  <a:pt x="4019550" y="73910"/>
                  <a:pt x="3998210" y="95250"/>
                  <a:pt x="3971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59040" y="4476155"/>
            <a:ext cx="3095625" cy="95250"/>
          </a:xfrm>
          <a:custGeom>
            <a:avLst/>
            <a:gdLst/>
            <a:ahLst/>
            <a:cxnLst/>
            <a:rect l="l" t="t" r="r" b="b"/>
            <a:pathLst>
              <a:path w="3095625" h="95250">
                <a:moveTo>
                  <a:pt x="47625" y="0"/>
                </a:moveTo>
                <a:lnTo>
                  <a:pt x="3048000" y="0"/>
                </a:lnTo>
                <a:cubicBezTo>
                  <a:pt x="3074285" y="0"/>
                  <a:pt x="3095625" y="21340"/>
                  <a:pt x="3095625" y="47625"/>
                </a:cubicBezTo>
                <a:lnTo>
                  <a:pt x="3095625" y="47625"/>
                </a:lnTo>
                <a:cubicBezTo>
                  <a:pt x="3095625" y="73910"/>
                  <a:pt x="3074285" y="95250"/>
                  <a:pt x="30480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7" name="Shape 45"/>
          <p:cNvSpPr/>
          <p:nvPr/>
        </p:nvSpPr>
        <p:spPr>
          <a:xfrm>
            <a:off x="7330440" y="4952405"/>
            <a:ext cx="4476750" cy="1905000"/>
          </a:xfrm>
          <a:custGeom>
            <a:avLst/>
            <a:gdLst/>
            <a:ahLst/>
            <a:cxnLst/>
            <a:rect l="l" t="t" r="r" b="b"/>
            <a:pathLst>
              <a:path w="4476750" h="1905000">
                <a:moveTo>
                  <a:pt x="114300" y="0"/>
                </a:moveTo>
                <a:lnTo>
                  <a:pt x="4362450" y="0"/>
                </a:lnTo>
                <a:cubicBezTo>
                  <a:pt x="4425534" y="0"/>
                  <a:pt x="4476750" y="51216"/>
                  <a:pt x="4476750" y="114300"/>
                </a:cubicBezTo>
                <a:lnTo>
                  <a:pt x="4476750" y="1790700"/>
                </a:lnTo>
                <a:cubicBezTo>
                  <a:pt x="4476750" y="1853784"/>
                  <a:pt x="4425534" y="1905000"/>
                  <a:pt x="436245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49515" y="51619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9" name="Text 47"/>
          <p:cNvSpPr/>
          <p:nvPr/>
        </p:nvSpPr>
        <p:spPr>
          <a:xfrm>
            <a:off x="7920990" y="514290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Leading Countries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0940" y="552390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65907" y="552390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370 GW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20940" y="582870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Brazil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84600" y="5828705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109 GW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20940" y="613350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82588" y="6133505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 GW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20940" y="6438305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United States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31987" y="6438305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 GW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odnesprawy.pl/abf4e2cff0d2267460cf82b35242cd91796af06e.jpg">    </p:cNvPr>
          <p:cNvPicPr>
            <a:picLocks noChangeAspect="1"/>
          </p:cNvPicPr>
          <p:nvPr/>
        </p:nvPicPr>
        <p:blipFill>
          <a:blip r:embed="rId1"/>
          <a:srcRect l="9762" r="976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817494"/>
            <a:ext cx="1312545" cy="388620"/>
          </a:xfrm>
          <a:custGeom>
            <a:avLst/>
            <a:gdLst/>
            <a:ahLst/>
            <a:cxnLst/>
            <a:rect l="l" t="t" r="r" b="b"/>
            <a:pathLst>
              <a:path w="1312545" h="388620">
                <a:moveTo>
                  <a:pt x="194310" y="0"/>
                </a:moveTo>
                <a:lnTo>
                  <a:pt x="1118235" y="0"/>
                </a:lnTo>
                <a:cubicBezTo>
                  <a:pt x="1225549" y="0"/>
                  <a:pt x="1312545" y="86996"/>
                  <a:pt x="1312545" y="194310"/>
                </a:cubicBezTo>
                <a:lnTo>
                  <a:pt x="1312545" y="194310"/>
                </a:lnTo>
                <a:cubicBezTo>
                  <a:pt x="1312545" y="301624"/>
                  <a:pt x="1225549" y="388620"/>
                  <a:pt x="111823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 w="10160">
            <a:solidFill>
              <a:srgbClr val="8FB7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2897507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438525"/>
            <a:ext cx="49720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Biomass 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Biogas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81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648325"/>
            <a:ext cx="4743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Organic Waste into Clean Energy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95" y="323395"/>
            <a:ext cx="1160180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b="1" spc="89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Biomass and Biogas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395" y="549772"/>
            <a:ext cx="11690737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Biomass Energy: Sources and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3395" y="970186"/>
            <a:ext cx="646790" cy="32340"/>
          </a:xfrm>
          <a:custGeom>
            <a:avLst/>
            <a:gdLst/>
            <a:ahLst/>
            <a:cxnLst/>
            <a:rect l="l" t="t" r="r" b="b"/>
            <a:pathLst>
              <a:path w="646790" h="32340">
                <a:moveTo>
                  <a:pt x="0" y="0"/>
                </a:moveTo>
                <a:lnTo>
                  <a:pt x="646790" y="0"/>
                </a:lnTo>
                <a:lnTo>
                  <a:pt x="646790" y="32340"/>
                </a:lnTo>
                <a:lnTo>
                  <a:pt x="0" y="3234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23395" y="1164223"/>
            <a:ext cx="6241528" cy="2619501"/>
          </a:xfrm>
          <a:custGeom>
            <a:avLst/>
            <a:gdLst/>
            <a:ahLst/>
            <a:cxnLst/>
            <a:rect l="l" t="t" r="r" b="b"/>
            <a:pathLst>
              <a:path w="6241528" h="2619501">
                <a:moveTo>
                  <a:pt x="97026" y="0"/>
                </a:moveTo>
                <a:lnTo>
                  <a:pt x="6144502" y="0"/>
                </a:lnTo>
                <a:cubicBezTo>
                  <a:pt x="6198088" y="0"/>
                  <a:pt x="6241528" y="43440"/>
                  <a:pt x="6241528" y="97026"/>
                </a:cubicBezTo>
                <a:lnTo>
                  <a:pt x="6241528" y="2522475"/>
                </a:lnTo>
                <a:cubicBezTo>
                  <a:pt x="6241528" y="2576061"/>
                  <a:pt x="6198088" y="2619501"/>
                  <a:pt x="6144502" y="2619501"/>
                </a:cubicBezTo>
                <a:lnTo>
                  <a:pt x="97026" y="2619501"/>
                </a:lnTo>
                <a:cubicBezTo>
                  <a:pt x="43440" y="2619501"/>
                  <a:pt x="0" y="2576061"/>
                  <a:pt x="0" y="2522475"/>
                </a:cubicBezTo>
                <a:lnTo>
                  <a:pt x="0" y="97026"/>
                </a:lnTo>
                <a:cubicBezTo>
                  <a:pt x="0" y="43440"/>
                  <a:pt x="43440" y="0"/>
                  <a:pt x="970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5093" y="1325920"/>
            <a:ext cx="6015151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Biomass Feedstock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5093" y="1713896"/>
            <a:ext cx="2910557" cy="905507"/>
          </a:xfrm>
          <a:custGeom>
            <a:avLst/>
            <a:gdLst/>
            <a:ahLst/>
            <a:cxnLst/>
            <a:rect l="l" t="t" r="r" b="b"/>
            <a:pathLst>
              <a:path w="2910557" h="905507">
                <a:moveTo>
                  <a:pt x="64680" y="0"/>
                </a:moveTo>
                <a:lnTo>
                  <a:pt x="2845877" y="0"/>
                </a:lnTo>
                <a:cubicBezTo>
                  <a:pt x="2881575" y="0"/>
                  <a:pt x="2910557" y="28982"/>
                  <a:pt x="2910557" y="64680"/>
                </a:cubicBezTo>
                <a:lnTo>
                  <a:pt x="2910557" y="840826"/>
                </a:lnTo>
                <a:cubicBezTo>
                  <a:pt x="2910557" y="876548"/>
                  <a:pt x="2881599" y="905507"/>
                  <a:pt x="2845877" y="905507"/>
                </a:cubicBezTo>
                <a:lnTo>
                  <a:pt x="64680" y="905507"/>
                </a:lnTo>
                <a:cubicBezTo>
                  <a:pt x="28958" y="905507"/>
                  <a:pt x="0" y="876548"/>
                  <a:pt x="0" y="840826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4663" y="1867509"/>
            <a:ext cx="145528" cy="145528"/>
          </a:xfrm>
          <a:custGeom>
            <a:avLst/>
            <a:gdLst/>
            <a:ahLst/>
            <a:cxnLst/>
            <a:rect l="l" t="t" r="r" b="b"/>
            <a:pathLst>
              <a:path w="145528" h="145528">
                <a:moveTo>
                  <a:pt x="145528" y="9095"/>
                </a:moveTo>
                <a:cubicBezTo>
                  <a:pt x="145528" y="39821"/>
                  <a:pt x="123756" y="65459"/>
                  <a:pt x="94820" y="71456"/>
                </a:cubicBezTo>
                <a:cubicBezTo>
                  <a:pt x="92575" y="54942"/>
                  <a:pt x="85157" y="40077"/>
                  <a:pt x="74214" y="28566"/>
                </a:cubicBezTo>
                <a:cubicBezTo>
                  <a:pt x="85611" y="11369"/>
                  <a:pt x="105138" y="0"/>
                  <a:pt x="127337" y="0"/>
                </a:cubicBezTo>
                <a:lnTo>
                  <a:pt x="136432" y="0"/>
                </a:lnTo>
                <a:cubicBezTo>
                  <a:pt x="141463" y="0"/>
                  <a:pt x="145528" y="4065"/>
                  <a:pt x="145528" y="9095"/>
                </a:cubicBezTo>
                <a:close/>
                <a:moveTo>
                  <a:pt x="0" y="27286"/>
                </a:moveTo>
                <a:cubicBezTo>
                  <a:pt x="0" y="22256"/>
                  <a:pt x="4065" y="18191"/>
                  <a:pt x="9095" y="18191"/>
                </a:cubicBezTo>
                <a:lnTo>
                  <a:pt x="18191" y="18191"/>
                </a:lnTo>
                <a:cubicBezTo>
                  <a:pt x="53351" y="18191"/>
                  <a:pt x="81859" y="46700"/>
                  <a:pt x="81859" y="81859"/>
                </a:cubicBezTo>
                <a:lnTo>
                  <a:pt x="81859" y="136432"/>
                </a:lnTo>
                <a:cubicBezTo>
                  <a:pt x="81859" y="141463"/>
                  <a:pt x="77795" y="145528"/>
                  <a:pt x="72764" y="145528"/>
                </a:cubicBezTo>
                <a:cubicBezTo>
                  <a:pt x="67733" y="145528"/>
                  <a:pt x="63668" y="141463"/>
                  <a:pt x="63668" y="136432"/>
                </a:cubicBezTo>
                <a:lnTo>
                  <a:pt x="63668" y="90955"/>
                </a:lnTo>
                <a:cubicBezTo>
                  <a:pt x="28509" y="90955"/>
                  <a:pt x="0" y="62446"/>
                  <a:pt x="0" y="2728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861040" y="1843254"/>
            <a:ext cx="123698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Agricultural Residues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4451" y="2101970"/>
            <a:ext cx="2716520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stalks, straw, husks, and bagasse from farming operations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92466" y="1713896"/>
            <a:ext cx="2910557" cy="905507"/>
          </a:xfrm>
          <a:custGeom>
            <a:avLst/>
            <a:gdLst/>
            <a:ahLst/>
            <a:cxnLst/>
            <a:rect l="l" t="t" r="r" b="b"/>
            <a:pathLst>
              <a:path w="2910557" h="905507">
                <a:moveTo>
                  <a:pt x="64680" y="0"/>
                </a:moveTo>
                <a:lnTo>
                  <a:pt x="2845877" y="0"/>
                </a:lnTo>
                <a:cubicBezTo>
                  <a:pt x="2881575" y="0"/>
                  <a:pt x="2910557" y="28982"/>
                  <a:pt x="2910557" y="64680"/>
                </a:cubicBezTo>
                <a:lnTo>
                  <a:pt x="2910557" y="840826"/>
                </a:lnTo>
                <a:cubicBezTo>
                  <a:pt x="2910557" y="876548"/>
                  <a:pt x="2881599" y="905507"/>
                  <a:pt x="2845877" y="905507"/>
                </a:cubicBezTo>
                <a:lnTo>
                  <a:pt x="64680" y="905507"/>
                </a:lnTo>
                <a:cubicBezTo>
                  <a:pt x="28958" y="905507"/>
                  <a:pt x="0" y="876548"/>
                  <a:pt x="0" y="840826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51132" y="1867509"/>
            <a:ext cx="127337" cy="145528"/>
          </a:xfrm>
          <a:custGeom>
            <a:avLst/>
            <a:gdLst/>
            <a:ahLst/>
            <a:cxnLst/>
            <a:rect l="l" t="t" r="r" b="b"/>
            <a:pathLst>
              <a:path w="127337" h="145528">
                <a:moveTo>
                  <a:pt x="63668" y="-9095"/>
                </a:moveTo>
                <a:cubicBezTo>
                  <a:pt x="65658" y="-9095"/>
                  <a:pt x="67562" y="-8214"/>
                  <a:pt x="68870" y="-6680"/>
                </a:cubicBezTo>
                <a:lnTo>
                  <a:pt x="107526" y="38798"/>
                </a:lnTo>
                <a:cubicBezTo>
                  <a:pt x="109260" y="40816"/>
                  <a:pt x="109629" y="43658"/>
                  <a:pt x="108521" y="46074"/>
                </a:cubicBezTo>
                <a:cubicBezTo>
                  <a:pt x="107412" y="48490"/>
                  <a:pt x="104996" y="50025"/>
                  <a:pt x="102324" y="50025"/>
                </a:cubicBezTo>
                <a:lnTo>
                  <a:pt x="95247" y="50025"/>
                </a:lnTo>
                <a:lnTo>
                  <a:pt x="116621" y="75180"/>
                </a:lnTo>
                <a:cubicBezTo>
                  <a:pt x="118355" y="77198"/>
                  <a:pt x="118725" y="80040"/>
                  <a:pt x="117616" y="82456"/>
                </a:cubicBezTo>
                <a:cubicBezTo>
                  <a:pt x="116508" y="84872"/>
                  <a:pt x="114092" y="86407"/>
                  <a:pt x="111420" y="86407"/>
                </a:cubicBezTo>
                <a:lnTo>
                  <a:pt x="100477" y="86407"/>
                </a:lnTo>
                <a:lnTo>
                  <a:pt x="125717" y="116110"/>
                </a:lnTo>
                <a:cubicBezTo>
                  <a:pt x="127451" y="118128"/>
                  <a:pt x="127820" y="120970"/>
                  <a:pt x="126712" y="123386"/>
                </a:cubicBezTo>
                <a:cubicBezTo>
                  <a:pt x="125603" y="125802"/>
                  <a:pt x="123187" y="127337"/>
                  <a:pt x="120515" y="127337"/>
                </a:cubicBezTo>
                <a:lnTo>
                  <a:pt x="72764" y="127337"/>
                </a:lnTo>
                <a:lnTo>
                  <a:pt x="72764" y="145528"/>
                </a:lnTo>
                <a:cubicBezTo>
                  <a:pt x="72764" y="150559"/>
                  <a:pt x="68699" y="154623"/>
                  <a:pt x="63668" y="154623"/>
                </a:cubicBezTo>
                <a:cubicBezTo>
                  <a:pt x="58637" y="154623"/>
                  <a:pt x="54573" y="150559"/>
                  <a:pt x="54573" y="145528"/>
                </a:cubicBezTo>
                <a:lnTo>
                  <a:pt x="54573" y="127337"/>
                </a:lnTo>
                <a:lnTo>
                  <a:pt x="6822" y="127337"/>
                </a:lnTo>
                <a:cubicBezTo>
                  <a:pt x="4150" y="127337"/>
                  <a:pt x="1734" y="125802"/>
                  <a:pt x="625" y="123386"/>
                </a:cubicBezTo>
                <a:cubicBezTo>
                  <a:pt x="-483" y="120970"/>
                  <a:pt x="-114" y="118128"/>
                  <a:pt x="1620" y="116110"/>
                </a:cubicBezTo>
                <a:lnTo>
                  <a:pt x="26860" y="86407"/>
                </a:lnTo>
                <a:lnTo>
                  <a:pt x="15917" y="86407"/>
                </a:lnTo>
                <a:cubicBezTo>
                  <a:pt x="13245" y="86407"/>
                  <a:pt x="10829" y="84872"/>
                  <a:pt x="9721" y="82456"/>
                </a:cubicBezTo>
                <a:cubicBezTo>
                  <a:pt x="8612" y="80040"/>
                  <a:pt x="8982" y="77198"/>
                  <a:pt x="10716" y="75180"/>
                </a:cubicBezTo>
                <a:lnTo>
                  <a:pt x="32090" y="50025"/>
                </a:lnTo>
                <a:lnTo>
                  <a:pt x="25013" y="50025"/>
                </a:lnTo>
                <a:cubicBezTo>
                  <a:pt x="22341" y="50025"/>
                  <a:pt x="19925" y="48490"/>
                  <a:pt x="18816" y="46074"/>
                </a:cubicBezTo>
                <a:cubicBezTo>
                  <a:pt x="17708" y="43658"/>
                  <a:pt x="18077" y="40816"/>
                  <a:pt x="19811" y="38798"/>
                </a:cubicBezTo>
                <a:lnTo>
                  <a:pt x="58467" y="-6680"/>
                </a:lnTo>
                <a:cubicBezTo>
                  <a:pt x="59774" y="-8214"/>
                  <a:pt x="61679" y="-9095"/>
                  <a:pt x="63668" y="-909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868413" y="1843254"/>
            <a:ext cx="103486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Wood &amp; Forestry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21824" y="2101970"/>
            <a:ext cx="2716520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Wood chips, sawdust, bark, and dedicated energy crops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5093" y="2716421"/>
            <a:ext cx="2910557" cy="905507"/>
          </a:xfrm>
          <a:custGeom>
            <a:avLst/>
            <a:gdLst/>
            <a:ahLst/>
            <a:cxnLst/>
            <a:rect l="l" t="t" r="r" b="b"/>
            <a:pathLst>
              <a:path w="2910557" h="905507">
                <a:moveTo>
                  <a:pt x="64680" y="0"/>
                </a:moveTo>
                <a:lnTo>
                  <a:pt x="2845877" y="0"/>
                </a:lnTo>
                <a:cubicBezTo>
                  <a:pt x="2881575" y="0"/>
                  <a:pt x="2910557" y="28982"/>
                  <a:pt x="2910557" y="64680"/>
                </a:cubicBezTo>
                <a:lnTo>
                  <a:pt x="2910557" y="840826"/>
                </a:lnTo>
                <a:cubicBezTo>
                  <a:pt x="2910557" y="876548"/>
                  <a:pt x="2881599" y="905507"/>
                  <a:pt x="2845877" y="905507"/>
                </a:cubicBezTo>
                <a:lnTo>
                  <a:pt x="64680" y="905507"/>
                </a:lnTo>
                <a:cubicBezTo>
                  <a:pt x="28958" y="905507"/>
                  <a:pt x="0" y="876548"/>
                  <a:pt x="0" y="840826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4663" y="2870034"/>
            <a:ext cx="145528" cy="145528"/>
          </a:xfrm>
          <a:custGeom>
            <a:avLst/>
            <a:gdLst/>
            <a:ahLst/>
            <a:cxnLst/>
            <a:rect l="l" t="t" r="r" b="b"/>
            <a:pathLst>
              <a:path w="145528" h="145528">
                <a:moveTo>
                  <a:pt x="72309" y="1876"/>
                </a:moveTo>
                <a:cubicBezTo>
                  <a:pt x="73304" y="654"/>
                  <a:pt x="74867" y="28"/>
                  <a:pt x="76431" y="256"/>
                </a:cubicBezTo>
                <a:cubicBezTo>
                  <a:pt x="89761" y="2046"/>
                  <a:pt x="100050" y="13473"/>
                  <a:pt x="100050" y="27286"/>
                </a:cubicBezTo>
                <a:cubicBezTo>
                  <a:pt x="100050" y="30470"/>
                  <a:pt x="99510" y="33540"/>
                  <a:pt x="98487" y="36382"/>
                </a:cubicBezTo>
                <a:lnTo>
                  <a:pt x="100050" y="36382"/>
                </a:lnTo>
                <a:cubicBezTo>
                  <a:pt x="110084" y="36382"/>
                  <a:pt x="118241" y="44539"/>
                  <a:pt x="118241" y="54573"/>
                </a:cubicBezTo>
                <a:cubicBezTo>
                  <a:pt x="118241" y="60002"/>
                  <a:pt x="115854" y="64891"/>
                  <a:pt x="112073" y="68216"/>
                </a:cubicBezTo>
                <a:lnTo>
                  <a:pt x="115968" y="68216"/>
                </a:lnTo>
                <a:cubicBezTo>
                  <a:pt x="127280" y="68216"/>
                  <a:pt x="136432" y="77369"/>
                  <a:pt x="136432" y="88681"/>
                </a:cubicBezTo>
                <a:cubicBezTo>
                  <a:pt x="136432" y="95275"/>
                  <a:pt x="133306" y="101130"/>
                  <a:pt x="128474" y="104882"/>
                </a:cubicBezTo>
                <a:cubicBezTo>
                  <a:pt x="138166" y="106503"/>
                  <a:pt x="145528" y="114916"/>
                  <a:pt x="145528" y="125063"/>
                </a:cubicBezTo>
                <a:cubicBezTo>
                  <a:pt x="145528" y="136376"/>
                  <a:pt x="136376" y="145528"/>
                  <a:pt x="125063" y="145528"/>
                </a:cubicBezTo>
                <a:lnTo>
                  <a:pt x="20465" y="145528"/>
                </a:lnTo>
                <a:cubicBezTo>
                  <a:pt x="9152" y="145528"/>
                  <a:pt x="0" y="136376"/>
                  <a:pt x="0" y="125063"/>
                </a:cubicBezTo>
                <a:cubicBezTo>
                  <a:pt x="0" y="114916"/>
                  <a:pt x="7362" y="106503"/>
                  <a:pt x="17054" y="104882"/>
                </a:cubicBezTo>
                <a:cubicBezTo>
                  <a:pt x="12222" y="101130"/>
                  <a:pt x="9095" y="95275"/>
                  <a:pt x="9095" y="88681"/>
                </a:cubicBezTo>
                <a:cubicBezTo>
                  <a:pt x="9095" y="77369"/>
                  <a:pt x="18248" y="68216"/>
                  <a:pt x="29560" y="68216"/>
                </a:cubicBezTo>
                <a:lnTo>
                  <a:pt x="33454" y="68216"/>
                </a:lnTo>
                <a:cubicBezTo>
                  <a:pt x="29674" y="64891"/>
                  <a:pt x="27286" y="60002"/>
                  <a:pt x="27286" y="54573"/>
                </a:cubicBezTo>
                <a:cubicBezTo>
                  <a:pt x="27286" y="44539"/>
                  <a:pt x="35444" y="36382"/>
                  <a:pt x="45477" y="36382"/>
                </a:cubicBezTo>
                <a:lnTo>
                  <a:pt x="50082" y="36382"/>
                </a:lnTo>
                <a:cubicBezTo>
                  <a:pt x="62617" y="36354"/>
                  <a:pt x="72764" y="26178"/>
                  <a:pt x="72764" y="13643"/>
                </a:cubicBezTo>
                <a:cubicBezTo>
                  <a:pt x="72764" y="11028"/>
                  <a:pt x="72338" y="8555"/>
                  <a:pt x="71542" y="6225"/>
                </a:cubicBezTo>
                <a:cubicBezTo>
                  <a:pt x="71030" y="4747"/>
                  <a:pt x="71314" y="3070"/>
                  <a:pt x="72338" y="184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861040" y="2845779"/>
            <a:ext cx="85699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Waste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51" y="3104495"/>
            <a:ext cx="2716520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Manure from livestock operations, rich in organic matter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2466" y="2716421"/>
            <a:ext cx="2910557" cy="905507"/>
          </a:xfrm>
          <a:custGeom>
            <a:avLst/>
            <a:gdLst/>
            <a:ahLst/>
            <a:cxnLst/>
            <a:rect l="l" t="t" r="r" b="b"/>
            <a:pathLst>
              <a:path w="2910557" h="905507">
                <a:moveTo>
                  <a:pt x="64680" y="0"/>
                </a:moveTo>
                <a:lnTo>
                  <a:pt x="2845877" y="0"/>
                </a:lnTo>
                <a:cubicBezTo>
                  <a:pt x="2881575" y="0"/>
                  <a:pt x="2910557" y="28982"/>
                  <a:pt x="2910557" y="64680"/>
                </a:cubicBezTo>
                <a:lnTo>
                  <a:pt x="2910557" y="840826"/>
                </a:lnTo>
                <a:cubicBezTo>
                  <a:pt x="2910557" y="876548"/>
                  <a:pt x="2881599" y="905507"/>
                  <a:pt x="2845877" y="905507"/>
                </a:cubicBezTo>
                <a:lnTo>
                  <a:pt x="64680" y="905507"/>
                </a:lnTo>
                <a:cubicBezTo>
                  <a:pt x="28958" y="905507"/>
                  <a:pt x="0" y="876548"/>
                  <a:pt x="0" y="840826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51132" y="2870034"/>
            <a:ext cx="127337" cy="145528"/>
          </a:xfrm>
          <a:custGeom>
            <a:avLst/>
            <a:gdLst/>
            <a:ahLst/>
            <a:cxnLst/>
            <a:rect l="l" t="t" r="r" b="b"/>
            <a:pathLst>
              <a:path w="127337" h="145528">
                <a:moveTo>
                  <a:pt x="38855" y="1677"/>
                </a:moveTo>
                <a:lnTo>
                  <a:pt x="36382" y="9095"/>
                </a:lnTo>
                <a:lnTo>
                  <a:pt x="9095" y="9095"/>
                </a:lnTo>
                <a:cubicBezTo>
                  <a:pt x="4065" y="9095"/>
                  <a:pt x="0" y="13160"/>
                  <a:pt x="0" y="18191"/>
                </a:cubicBezTo>
                <a:cubicBezTo>
                  <a:pt x="0" y="23222"/>
                  <a:pt x="4065" y="27286"/>
                  <a:pt x="9095" y="27286"/>
                </a:cubicBezTo>
                <a:lnTo>
                  <a:pt x="118241" y="27286"/>
                </a:lnTo>
                <a:cubicBezTo>
                  <a:pt x="123272" y="27286"/>
                  <a:pt x="127337" y="23222"/>
                  <a:pt x="127337" y="18191"/>
                </a:cubicBezTo>
                <a:cubicBezTo>
                  <a:pt x="127337" y="13160"/>
                  <a:pt x="123272" y="9095"/>
                  <a:pt x="118241" y="9095"/>
                </a:cubicBezTo>
                <a:lnTo>
                  <a:pt x="90955" y="9095"/>
                </a:lnTo>
                <a:lnTo>
                  <a:pt x="88482" y="1677"/>
                </a:lnTo>
                <a:cubicBezTo>
                  <a:pt x="87231" y="-2046"/>
                  <a:pt x="83764" y="-4548"/>
                  <a:pt x="79841" y="-4548"/>
                </a:cubicBezTo>
                <a:lnTo>
                  <a:pt x="47496" y="-4548"/>
                </a:lnTo>
                <a:cubicBezTo>
                  <a:pt x="43573" y="-4548"/>
                  <a:pt x="40105" y="-2046"/>
                  <a:pt x="38855" y="1677"/>
                </a:cubicBezTo>
                <a:close/>
                <a:moveTo>
                  <a:pt x="118241" y="40930"/>
                </a:moveTo>
                <a:lnTo>
                  <a:pt x="9095" y="40930"/>
                </a:lnTo>
                <a:lnTo>
                  <a:pt x="15093" y="132766"/>
                </a:lnTo>
                <a:cubicBezTo>
                  <a:pt x="15548" y="139957"/>
                  <a:pt x="21517" y="145528"/>
                  <a:pt x="28708" y="145528"/>
                </a:cubicBezTo>
                <a:lnTo>
                  <a:pt x="98629" y="145528"/>
                </a:lnTo>
                <a:cubicBezTo>
                  <a:pt x="105820" y="145528"/>
                  <a:pt x="111789" y="139957"/>
                  <a:pt x="112244" y="132766"/>
                </a:cubicBezTo>
                <a:lnTo>
                  <a:pt x="118241" y="4093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1" name="Text 19"/>
          <p:cNvSpPr/>
          <p:nvPr/>
        </p:nvSpPr>
        <p:spPr>
          <a:xfrm>
            <a:off x="3868413" y="2845779"/>
            <a:ext cx="101061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Municipal Waste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21824" y="3104495"/>
            <a:ext cx="2716520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fraction of household and industrial waste streams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3395" y="3912984"/>
            <a:ext cx="6241528" cy="2942897"/>
          </a:xfrm>
          <a:custGeom>
            <a:avLst/>
            <a:gdLst/>
            <a:ahLst/>
            <a:cxnLst/>
            <a:rect l="l" t="t" r="r" b="b"/>
            <a:pathLst>
              <a:path w="6241528" h="2942897">
                <a:moveTo>
                  <a:pt x="97027" y="0"/>
                </a:moveTo>
                <a:lnTo>
                  <a:pt x="6144501" y="0"/>
                </a:lnTo>
                <a:cubicBezTo>
                  <a:pt x="6198087" y="0"/>
                  <a:pt x="6241528" y="43441"/>
                  <a:pt x="6241528" y="97027"/>
                </a:cubicBezTo>
                <a:lnTo>
                  <a:pt x="6241528" y="2845869"/>
                </a:lnTo>
                <a:cubicBezTo>
                  <a:pt x="6241528" y="2899420"/>
                  <a:pt x="6198051" y="2942897"/>
                  <a:pt x="6144501" y="2942897"/>
                </a:cubicBezTo>
                <a:lnTo>
                  <a:pt x="97027" y="2942897"/>
                </a:lnTo>
                <a:cubicBezTo>
                  <a:pt x="43441" y="2942897"/>
                  <a:pt x="0" y="2899456"/>
                  <a:pt x="0" y="2845869"/>
                </a:cubicBezTo>
                <a:lnTo>
                  <a:pt x="0" y="97027"/>
                </a:lnTo>
                <a:cubicBezTo>
                  <a:pt x="0" y="43476"/>
                  <a:pt x="43476" y="0"/>
                  <a:pt x="970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5093" y="4074681"/>
            <a:ext cx="6015151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Conversion Technologies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5093" y="4462653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64679" y="0"/>
                </a:moveTo>
                <a:lnTo>
                  <a:pt x="258716" y="0"/>
                </a:lnTo>
                <a:cubicBezTo>
                  <a:pt x="294414" y="0"/>
                  <a:pt x="323395" y="28982"/>
                  <a:pt x="323395" y="64679"/>
                </a:cubicBezTo>
                <a:lnTo>
                  <a:pt x="323395" y="258716"/>
                </a:lnTo>
                <a:cubicBezTo>
                  <a:pt x="323395" y="294414"/>
                  <a:pt x="294414" y="323395"/>
                  <a:pt x="258716" y="323395"/>
                </a:cubicBezTo>
                <a:lnTo>
                  <a:pt x="64679" y="323395"/>
                </a:lnTo>
                <a:cubicBezTo>
                  <a:pt x="28982" y="323395"/>
                  <a:pt x="0" y="294414"/>
                  <a:pt x="0" y="258716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52753" y="4462653"/>
            <a:ext cx="388074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846" y="4462653"/>
            <a:ext cx="553814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Combustion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7846" y="4721369"/>
            <a:ext cx="553005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Burning biomass to produce heat for electricity generation or industrial processes—simplest and most widely used method.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5093" y="5238801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64679" y="0"/>
                </a:moveTo>
                <a:lnTo>
                  <a:pt x="258716" y="0"/>
                </a:lnTo>
                <a:cubicBezTo>
                  <a:pt x="294414" y="0"/>
                  <a:pt x="323395" y="28982"/>
                  <a:pt x="323395" y="64679"/>
                </a:cubicBezTo>
                <a:lnTo>
                  <a:pt x="323395" y="258716"/>
                </a:lnTo>
                <a:cubicBezTo>
                  <a:pt x="323395" y="294414"/>
                  <a:pt x="294414" y="323395"/>
                  <a:pt x="258716" y="323395"/>
                </a:cubicBezTo>
                <a:lnTo>
                  <a:pt x="64679" y="323395"/>
                </a:lnTo>
                <a:cubicBezTo>
                  <a:pt x="28982" y="323395"/>
                  <a:pt x="0" y="294414"/>
                  <a:pt x="0" y="258716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0" name="Text 28"/>
          <p:cNvSpPr/>
          <p:nvPr/>
        </p:nvSpPr>
        <p:spPr>
          <a:xfrm>
            <a:off x="452753" y="5238801"/>
            <a:ext cx="388074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7846" y="5238801"/>
            <a:ext cx="553814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Gasification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7846" y="5497518"/>
            <a:ext cx="553005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Heating biomass with limited oxygen to produce syngas (hydrogen and carbon monoxide) for cleaner burning.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5093" y="6014950"/>
            <a:ext cx="323395" cy="323395"/>
          </a:xfrm>
          <a:custGeom>
            <a:avLst/>
            <a:gdLst/>
            <a:ahLst/>
            <a:cxnLst/>
            <a:rect l="l" t="t" r="r" b="b"/>
            <a:pathLst>
              <a:path w="323395" h="323395">
                <a:moveTo>
                  <a:pt x="64679" y="0"/>
                </a:moveTo>
                <a:lnTo>
                  <a:pt x="258716" y="0"/>
                </a:lnTo>
                <a:cubicBezTo>
                  <a:pt x="294414" y="0"/>
                  <a:pt x="323395" y="28982"/>
                  <a:pt x="323395" y="64679"/>
                </a:cubicBezTo>
                <a:lnTo>
                  <a:pt x="323395" y="258716"/>
                </a:lnTo>
                <a:cubicBezTo>
                  <a:pt x="323395" y="294414"/>
                  <a:pt x="294414" y="323395"/>
                  <a:pt x="258716" y="323395"/>
                </a:cubicBezTo>
                <a:lnTo>
                  <a:pt x="64679" y="323395"/>
                </a:lnTo>
                <a:cubicBezTo>
                  <a:pt x="28982" y="323395"/>
                  <a:pt x="0" y="294414"/>
                  <a:pt x="0" y="258716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4" name="Text 32"/>
          <p:cNvSpPr/>
          <p:nvPr/>
        </p:nvSpPr>
        <p:spPr>
          <a:xfrm>
            <a:off x="452753" y="6014950"/>
            <a:ext cx="388074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7846" y="6014950"/>
            <a:ext cx="5538143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Pyrolysis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7846" y="6273666"/>
            <a:ext cx="553005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Thermal decomposition in absence of oxygen to produce bio-oil, biochar, and syngas for various applications.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58556" y="1164223"/>
            <a:ext cx="5109645" cy="4479024"/>
          </a:xfrm>
          <a:custGeom>
            <a:avLst/>
            <a:gdLst/>
            <a:ahLst/>
            <a:cxnLst/>
            <a:rect l="l" t="t" r="r" b="b"/>
            <a:pathLst>
              <a:path w="5109645" h="4479024">
                <a:moveTo>
                  <a:pt x="97016" y="0"/>
                </a:moveTo>
                <a:lnTo>
                  <a:pt x="5012629" y="0"/>
                </a:lnTo>
                <a:cubicBezTo>
                  <a:pt x="5066209" y="0"/>
                  <a:pt x="5109645" y="43435"/>
                  <a:pt x="5109645" y="97016"/>
                </a:cubicBezTo>
                <a:lnTo>
                  <a:pt x="5109645" y="4382008"/>
                </a:lnTo>
                <a:cubicBezTo>
                  <a:pt x="5109645" y="4435588"/>
                  <a:pt x="5066209" y="4479024"/>
                  <a:pt x="5012629" y="4479024"/>
                </a:cubicBezTo>
                <a:lnTo>
                  <a:pt x="97016" y="4479024"/>
                </a:lnTo>
                <a:cubicBezTo>
                  <a:pt x="43435" y="4479024"/>
                  <a:pt x="0" y="4435588"/>
                  <a:pt x="0" y="4382008"/>
                </a:cubicBezTo>
                <a:lnTo>
                  <a:pt x="0" y="97016"/>
                </a:lnTo>
                <a:cubicBezTo>
                  <a:pt x="0" y="43435"/>
                  <a:pt x="43435" y="0"/>
                  <a:pt x="97016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38" name="Text 36"/>
          <p:cNvSpPr/>
          <p:nvPr/>
        </p:nvSpPr>
        <p:spPr>
          <a:xfrm>
            <a:off x="6952593" y="1358260"/>
            <a:ext cx="4818589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Environmental Benefits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72805" y="181091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8099" y="18949"/>
                </a:moveTo>
                <a:cubicBezTo>
                  <a:pt x="62689" y="-6316"/>
                  <a:pt x="99166" y="-6316"/>
                  <a:pt x="113757" y="18949"/>
                </a:cubicBezTo>
                <a:lnTo>
                  <a:pt x="125537" y="39351"/>
                </a:lnTo>
                <a:lnTo>
                  <a:pt x="134285" y="34298"/>
                </a:lnTo>
                <a:cubicBezTo>
                  <a:pt x="136938" y="32750"/>
                  <a:pt x="140254" y="32971"/>
                  <a:pt x="142686" y="34834"/>
                </a:cubicBezTo>
                <a:cubicBezTo>
                  <a:pt x="145117" y="36698"/>
                  <a:pt x="146191" y="39856"/>
                  <a:pt x="145402" y="42825"/>
                </a:cubicBezTo>
                <a:lnTo>
                  <a:pt x="137980" y="70427"/>
                </a:lnTo>
                <a:cubicBezTo>
                  <a:pt x="136906" y="74469"/>
                  <a:pt x="132737" y="76870"/>
                  <a:pt x="128695" y="75796"/>
                </a:cubicBezTo>
                <a:lnTo>
                  <a:pt x="101093" y="68406"/>
                </a:lnTo>
                <a:cubicBezTo>
                  <a:pt x="98124" y="67616"/>
                  <a:pt x="95945" y="65121"/>
                  <a:pt x="95534" y="62089"/>
                </a:cubicBezTo>
                <a:cubicBezTo>
                  <a:pt x="95124" y="59058"/>
                  <a:pt x="96608" y="56057"/>
                  <a:pt x="99261" y="54541"/>
                </a:cubicBezTo>
                <a:lnTo>
                  <a:pt x="108009" y="49488"/>
                </a:lnTo>
                <a:lnTo>
                  <a:pt x="96229" y="29087"/>
                </a:lnTo>
                <a:cubicBezTo>
                  <a:pt x="89407" y="17307"/>
                  <a:pt x="72417" y="17307"/>
                  <a:pt x="65595" y="29087"/>
                </a:cubicBezTo>
                <a:lnTo>
                  <a:pt x="63921" y="31961"/>
                </a:lnTo>
                <a:cubicBezTo>
                  <a:pt x="61142" y="36793"/>
                  <a:pt x="54952" y="38435"/>
                  <a:pt x="50120" y="35656"/>
                </a:cubicBezTo>
                <a:cubicBezTo>
                  <a:pt x="45288" y="32876"/>
                  <a:pt x="43646" y="26686"/>
                  <a:pt x="46425" y="21823"/>
                </a:cubicBezTo>
                <a:lnTo>
                  <a:pt x="48099" y="18949"/>
                </a:lnTo>
                <a:close/>
                <a:moveTo>
                  <a:pt x="142022" y="88144"/>
                </a:moveTo>
                <a:cubicBezTo>
                  <a:pt x="146854" y="85365"/>
                  <a:pt x="153044" y="87007"/>
                  <a:pt x="155823" y="91839"/>
                </a:cubicBezTo>
                <a:lnTo>
                  <a:pt x="157497" y="94713"/>
                </a:lnTo>
                <a:cubicBezTo>
                  <a:pt x="172088" y="119978"/>
                  <a:pt x="153865" y="151560"/>
                  <a:pt x="124684" y="151560"/>
                </a:cubicBezTo>
                <a:lnTo>
                  <a:pt x="101124" y="151560"/>
                </a:lnTo>
                <a:lnTo>
                  <a:pt x="101124" y="161666"/>
                </a:lnTo>
                <a:cubicBezTo>
                  <a:pt x="101124" y="164729"/>
                  <a:pt x="99292" y="167509"/>
                  <a:pt x="96450" y="168677"/>
                </a:cubicBezTo>
                <a:cubicBezTo>
                  <a:pt x="93608" y="169846"/>
                  <a:pt x="90355" y="169214"/>
                  <a:pt x="88176" y="167035"/>
                </a:cubicBezTo>
                <a:lnTo>
                  <a:pt x="67964" y="146823"/>
                </a:lnTo>
                <a:cubicBezTo>
                  <a:pt x="64995" y="143854"/>
                  <a:pt x="64995" y="139054"/>
                  <a:pt x="67964" y="136117"/>
                </a:cubicBezTo>
                <a:lnTo>
                  <a:pt x="88176" y="115904"/>
                </a:lnTo>
                <a:cubicBezTo>
                  <a:pt x="90355" y="113725"/>
                  <a:pt x="93608" y="113094"/>
                  <a:pt x="96450" y="114262"/>
                </a:cubicBezTo>
                <a:cubicBezTo>
                  <a:pt x="99292" y="115431"/>
                  <a:pt x="101124" y="118210"/>
                  <a:pt x="101124" y="121273"/>
                </a:cubicBezTo>
                <a:lnTo>
                  <a:pt x="101124" y="131379"/>
                </a:lnTo>
                <a:lnTo>
                  <a:pt x="124684" y="131379"/>
                </a:lnTo>
                <a:cubicBezTo>
                  <a:pt x="138296" y="131379"/>
                  <a:pt x="146823" y="116631"/>
                  <a:pt x="140001" y="104851"/>
                </a:cubicBezTo>
                <a:lnTo>
                  <a:pt x="138327" y="101977"/>
                </a:lnTo>
                <a:cubicBezTo>
                  <a:pt x="135548" y="97145"/>
                  <a:pt x="137190" y="90955"/>
                  <a:pt x="142022" y="88176"/>
                </a:cubicBezTo>
                <a:close/>
                <a:moveTo>
                  <a:pt x="16107" y="74343"/>
                </a:moveTo>
                <a:lnTo>
                  <a:pt x="7359" y="69290"/>
                </a:lnTo>
                <a:cubicBezTo>
                  <a:pt x="4706" y="67742"/>
                  <a:pt x="3221" y="64774"/>
                  <a:pt x="3632" y="61742"/>
                </a:cubicBezTo>
                <a:cubicBezTo>
                  <a:pt x="4042" y="58710"/>
                  <a:pt x="6222" y="56215"/>
                  <a:pt x="9190" y="55426"/>
                </a:cubicBezTo>
                <a:lnTo>
                  <a:pt x="36793" y="48004"/>
                </a:lnTo>
                <a:cubicBezTo>
                  <a:pt x="40835" y="46930"/>
                  <a:pt x="45004" y="49330"/>
                  <a:pt x="46078" y="53373"/>
                </a:cubicBezTo>
                <a:lnTo>
                  <a:pt x="53468" y="80975"/>
                </a:lnTo>
                <a:cubicBezTo>
                  <a:pt x="54257" y="83944"/>
                  <a:pt x="53183" y="87070"/>
                  <a:pt x="50752" y="88965"/>
                </a:cubicBezTo>
                <a:cubicBezTo>
                  <a:pt x="48320" y="90860"/>
                  <a:pt x="45004" y="91050"/>
                  <a:pt x="42351" y="89502"/>
                </a:cubicBezTo>
                <a:lnTo>
                  <a:pt x="33603" y="84449"/>
                </a:lnTo>
                <a:lnTo>
                  <a:pt x="21823" y="104851"/>
                </a:lnTo>
                <a:cubicBezTo>
                  <a:pt x="15001" y="116631"/>
                  <a:pt x="23528" y="131379"/>
                  <a:pt x="37140" y="131379"/>
                </a:cubicBezTo>
                <a:lnTo>
                  <a:pt x="40488" y="131379"/>
                </a:lnTo>
                <a:cubicBezTo>
                  <a:pt x="46078" y="131379"/>
                  <a:pt x="50594" y="135895"/>
                  <a:pt x="50594" y="141485"/>
                </a:cubicBezTo>
                <a:cubicBezTo>
                  <a:pt x="50594" y="147075"/>
                  <a:pt x="46078" y="151592"/>
                  <a:pt x="40488" y="151592"/>
                </a:cubicBezTo>
                <a:lnTo>
                  <a:pt x="37140" y="151592"/>
                </a:lnTo>
                <a:cubicBezTo>
                  <a:pt x="7990" y="151592"/>
                  <a:pt x="-10232" y="120010"/>
                  <a:pt x="4358" y="94745"/>
                </a:cubicBezTo>
                <a:lnTo>
                  <a:pt x="16107" y="74343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0" name="Text 38"/>
          <p:cNvSpPr/>
          <p:nvPr/>
        </p:nvSpPr>
        <p:spPr>
          <a:xfrm>
            <a:off x="7251734" y="1778575"/>
            <a:ext cx="3686706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 Reduction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51734" y="2004952"/>
            <a:ext cx="368670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Diverts organic waste from landfills, reducing methane emissions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72805" y="2376856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48844" y="2116"/>
                </a:moveTo>
                <a:cubicBezTo>
                  <a:pt x="150865" y="189"/>
                  <a:pt x="153802" y="-505"/>
                  <a:pt x="156518" y="379"/>
                </a:cubicBezTo>
                <a:cubicBezTo>
                  <a:pt x="159613" y="1421"/>
                  <a:pt x="161698" y="4327"/>
                  <a:pt x="161698" y="7580"/>
                </a:cubicBezTo>
                <a:lnTo>
                  <a:pt x="161698" y="66606"/>
                </a:lnTo>
                <a:cubicBezTo>
                  <a:pt x="161698" y="108041"/>
                  <a:pt x="127558" y="141485"/>
                  <a:pt x="86281" y="141485"/>
                </a:cubicBezTo>
                <a:cubicBezTo>
                  <a:pt x="61963" y="141485"/>
                  <a:pt x="40993" y="125853"/>
                  <a:pt x="33382" y="103998"/>
                </a:cubicBezTo>
                <a:cubicBezTo>
                  <a:pt x="22202" y="113725"/>
                  <a:pt x="15159" y="128032"/>
                  <a:pt x="15159" y="144012"/>
                </a:cubicBezTo>
                <a:cubicBezTo>
                  <a:pt x="15159" y="148212"/>
                  <a:pt x="11780" y="151592"/>
                  <a:pt x="7580" y="151592"/>
                </a:cubicBezTo>
                <a:cubicBezTo>
                  <a:pt x="3379" y="151592"/>
                  <a:pt x="0" y="148212"/>
                  <a:pt x="0" y="144012"/>
                </a:cubicBezTo>
                <a:cubicBezTo>
                  <a:pt x="0" y="120357"/>
                  <a:pt x="12064" y="99514"/>
                  <a:pt x="30350" y="87260"/>
                </a:cubicBezTo>
                <a:cubicBezTo>
                  <a:pt x="41498" y="79807"/>
                  <a:pt x="54794" y="75796"/>
                  <a:pt x="68216" y="75796"/>
                </a:cubicBezTo>
                <a:lnTo>
                  <a:pt x="93481" y="75796"/>
                </a:lnTo>
                <a:cubicBezTo>
                  <a:pt x="97682" y="75796"/>
                  <a:pt x="101061" y="72417"/>
                  <a:pt x="101061" y="68216"/>
                </a:cubicBezTo>
                <a:cubicBezTo>
                  <a:pt x="101061" y="64016"/>
                  <a:pt x="97682" y="60637"/>
                  <a:pt x="93481" y="60637"/>
                </a:cubicBezTo>
                <a:lnTo>
                  <a:pt x="68216" y="60637"/>
                </a:lnTo>
                <a:cubicBezTo>
                  <a:pt x="55678" y="60637"/>
                  <a:pt x="43804" y="63416"/>
                  <a:pt x="33161" y="68374"/>
                </a:cubicBezTo>
                <a:cubicBezTo>
                  <a:pt x="40519" y="46267"/>
                  <a:pt x="61331" y="30318"/>
                  <a:pt x="85902" y="30318"/>
                </a:cubicBezTo>
                <a:cubicBezTo>
                  <a:pt x="106872" y="30318"/>
                  <a:pt x="122473" y="23339"/>
                  <a:pt x="132864" y="16422"/>
                </a:cubicBezTo>
                <a:cubicBezTo>
                  <a:pt x="138927" y="12380"/>
                  <a:pt x="144075" y="7548"/>
                  <a:pt x="148875" y="211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3" name="Text 41"/>
          <p:cNvSpPr/>
          <p:nvPr/>
        </p:nvSpPr>
        <p:spPr>
          <a:xfrm>
            <a:off x="7251734" y="2344517"/>
            <a:ext cx="325820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Neutral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51734" y="2570893"/>
            <a:ext cx="325820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 released equals what plants absorbed during growth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72805" y="294279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4516" y="10106"/>
                  <a:pt x="0" y="14622"/>
                  <a:pt x="0" y="20212"/>
                </a:cubicBezTo>
                <a:lnTo>
                  <a:pt x="0" y="136432"/>
                </a:lnTo>
                <a:cubicBezTo>
                  <a:pt x="0" y="144801"/>
                  <a:pt x="6790" y="151592"/>
                  <a:pt x="15159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48067"/>
                </a:lnTo>
                <a:cubicBezTo>
                  <a:pt x="161698" y="42319"/>
                  <a:pt x="155571" y="38687"/>
                  <a:pt x="150518" y="41403"/>
                </a:cubicBezTo>
                <a:lnTo>
                  <a:pt x="101061" y="68027"/>
                </a:lnTo>
                <a:lnTo>
                  <a:pt x="101061" y="48067"/>
                </a:lnTo>
                <a:cubicBezTo>
                  <a:pt x="101061" y="42319"/>
                  <a:pt x="94934" y="38687"/>
                  <a:pt x="89881" y="41403"/>
                </a:cubicBezTo>
                <a:lnTo>
                  <a:pt x="40424" y="68027"/>
                </a:lnTo>
                <a:lnTo>
                  <a:pt x="40424" y="20212"/>
                </a:lnTo>
                <a:cubicBezTo>
                  <a:pt x="40424" y="14622"/>
                  <a:pt x="35908" y="10106"/>
                  <a:pt x="30318" y="10106"/>
                </a:cubicBezTo>
                <a:lnTo>
                  <a:pt x="10106" y="10106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6" name="Text 44"/>
          <p:cNvSpPr/>
          <p:nvPr/>
        </p:nvSpPr>
        <p:spPr>
          <a:xfrm>
            <a:off x="7251734" y="2910458"/>
            <a:ext cx="305608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Rural Development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51734" y="3136835"/>
            <a:ext cx="305608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local jobs and income from agricultural waste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52593" y="3508740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66751" y="40424"/>
                </a:moveTo>
                <a:cubicBezTo>
                  <a:pt x="169530" y="40424"/>
                  <a:pt x="171804" y="42698"/>
                  <a:pt x="171804" y="45477"/>
                </a:cubicBezTo>
                <a:lnTo>
                  <a:pt x="171804" y="116220"/>
                </a:lnTo>
                <a:cubicBezTo>
                  <a:pt x="171804" y="118999"/>
                  <a:pt x="169530" y="121273"/>
                  <a:pt x="166751" y="121273"/>
                </a:cubicBezTo>
                <a:lnTo>
                  <a:pt x="35371" y="121273"/>
                </a:lnTo>
                <a:cubicBezTo>
                  <a:pt x="32592" y="121273"/>
                  <a:pt x="30318" y="118999"/>
                  <a:pt x="30318" y="116220"/>
                </a:cubicBezTo>
                <a:lnTo>
                  <a:pt x="30318" y="45477"/>
                </a:lnTo>
                <a:cubicBezTo>
                  <a:pt x="30318" y="42698"/>
                  <a:pt x="32592" y="40424"/>
                  <a:pt x="35371" y="40424"/>
                </a:cubicBezTo>
                <a:lnTo>
                  <a:pt x="166751" y="40424"/>
                </a:lnTo>
                <a:close/>
                <a:moveTo>
                  <a:pt x="35371" y="20212"/>
                </a:moveTo>
                <a:cubicBezTo>
                  <a:pt x="21412" y="20212"/>
                  <a:pt x="10106" y="31518"/>
                  <a:pt x="10106" y="45477"/>
                </a:cubicBezTo>
                <a:lnTo>
                  <a:pt x="10106" y="116220"/>
                </a:lnTo>
                <a:cubicBezTo>
                  <a:pt x="10106" y="130179"/>
                  <a:pt x="21412" y="141485"/>
                  <a:pt x="35371" y="141485"/>
                </a:cubicBezTo>
                <a:lnTo>
                  <a:pt x="166751" y="141485"/>
                </a:lnTo>
                <a:cubicBezTo>
                  <a:pt x="180710" y="141485"/>
                  <a:pt x="192016" y="130179"/>
                  <a:pt x="192016" y="116220"/>
                </a:cubicBezTo>
                <a:lnTo>
                  <a:pt x="192016" y="101061"/>
                </a:lnTo>
                <a:cubicBezTo>
                  <a:pt x="197606" y="101061"/>
                  <a:pt x="202122" y="96545"/>
                  <a:pt x="202122" y="90955"/>
                </a:cubicBezTo>
                <a:lnTo>
                  <a:pt x="202122" y="70743"/>
                </a:lnTo>
                <a:cubicBezTo>
                  <a:pt x="202122" y="65153"/>
                  <a:pt x="197606" y="60637"/>
                  <a:pt x="192016" y="60637"/>
                </a:cubicBezTo>
                <a:lnTo>
                  <a:pt x="192016" y="45477"/>
                </a:lnTo>
                <a:cubicBezTo>
                  <a:pt x="192016" y="31518"/>
                  <a:pt x="180710" y="20212"/>
                  <a:pt x="166751" y="20212"/>
                </a:cubicBezTo>
                <a:lnTo>
                  <a:pt x="35371" y="20212"/>
                </a:lnTo>
                <a:close/>
                <a:moveTo>
                  <a:pt x="53057" y="55584"/>
                </a:moveTo>
                <a:cubicBezTo>
                  <a:pt x="48857" y="55584"/>
                  <a:pt x="45477" y="58963"/>
                  <a:pt x="45477" y="63163"/>
                </a:cubicBezTo>
                <a:lnTo>
                  <a:pt x="45477" y="98534"/>
                </a:lnTo>
                <a:cubicBezTo>
                  <a:pt x="45477" y="102735"/>
                  <a:pt x="48857" y="106114"/>
                  <a:pt x="53057" y="106114"/>
                </a:cubicBezTo>
                <a:lnTo>
                  <a:pt x="149065" y="106114"/>
                </a:lnTo>
                <a:cubicBezTo>
                  <a:pt x="153265" y="106114"/>
                  <a:pt x="156645" y="102735"/>
                  <a:pt x="156645" y="98534"/>
                </a:cubicBezTo>
                <a:lnTo>
                  <a:pt x="156645" y="63163"/>
                </a:lnTo>
                <a:cubicBezTo>
                  <a:pt x="156645" y="58963"/>
                  <a:pt x="153265" y="55584"/>
                  <a:pt x="149065" y="55584"/>
                </a:cubicBezTo>
                <a:lnTo>
                  <a:pt x="53057" y="55584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Text 47"/>
          <p:cNvSpPr/>
          <p:nvPr/>
        </p:nvSpPr>
        <p:spPr>
          <a:xfrm>
            <a:off x="7251734" y="3476400"/>
            <a:ext cx="3120764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Security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51734" y="3702777"/>
            <a:ext cx="3120764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Locally available resource reduces import dependence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61790" y="5778871"/>
            <a:ext cx="5099943" cy="1073672"/>
          </a:xfrm>
          <a:custGeom>
            <a:avLst/>
            <a:gdLst/>
            <a:ahLst/>
            <a:cxnLst/>
            <a:rect l="l" t="t" r="r" b="b"/>
            <a:pathLst>
              <a:path w="5099943" h="1073672">
                <a:moveTo>
                  <a:pt x="97017" y="0"/>
                </a:moveTo>
                <a:lnTo>
                  <a:pt x="5002926" y="0"/>
                </a:lnTo>
                <a:cubicBezTo>
                  <a:pt x="5056507" y="0"/>
                  <a:pt x="5099943" y="43436"/>
                  <a:pt x="5099943" y="97017"/>
                </a:cubicBezTo>
                <a:lnTo>
                  <a:pt x="5099943" y="976655"/>
                </a:lnTo>
                <a:cubicBezTo>
                  <a:pt x="5099943" y="1030236"/>
                  <a:pt x="5056507" y="1073672"/>
                  <a:pt x="5002926" y="1073672"/>
                </a:cubicBezTo>
                <a:lnTo>
                  <a:pt x="97017" y="1073672"/>
                </a:lnTo>
                <a:cubicBezTo>
                  <a:pt x="43436" y="1073672"/>
                  <a:pt x="0" y="1030236"/>
                  <a:pt x="0" y="976655"/>
                </a:cubicBezTo>
                <a:lnTo>
                  <a:pt x="0" y="97017"/>
                </a:lnTo>
                <a:cubicBezTo>
                  <a:pt x="0" y="43472"/>
                  <a:pt x="43472" y="0"/>
                  <a:pt x="97017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 w="10160">
            <a:solidFill>
              <a:srgbClr val="4C8A7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75231" y="5959974"/>
            <a:ext cx="145528" cy="194037"/>
          </a:xfrm>
          <a:custGeom>
            <a:avLst/>
            <a:gdLst/>
            <a:ahLst/>
            <a:cxnLst/>
            <a:rect l="l" t="t" r="r" b="b"/>
            <a:pathLst>
              <a:path w="145528" h="194037">
                <a:moveTo>
                  <a:pt x="111003" y="145528"/>
                </a:moveTo>
                <a:cubicBezTo>
                  <a:pt x="113769" y="137077"/>
                  <a:pt x="119303" y="129421"/>
                  <a:pt x="125556" y="122827"/>
                </a:cubicBezTo>
                <a:cubicBezTo>
                  <a:pt x="137948" y="109790"/>
                  <a:pt x="145528" y="92168"/>
                  <a:pt x="145528" y="72764"/>
                </a:cubicBezTo>
                <a:cubicBezTo>
                  <a:pt x="145528" y="32592"/>
                  <a:pt x="112936" y="0"/>
                  <a:pt x="72764" y="0"/>
                </a:cubicBezTo>
                <a:cubicBezTo>
                  <a:pt x="32592" y="0"/>
                  <a:pt x="0" y="32592"/>
                  <a:pt x="0" y="72764"/>
                </a:cubicBezTo>
                <a:cubicBezTo>
                  <a:pt x="0" y="92168"/>
                  <a:pt x="7580" y="109790"/>
                  <a:pt x="19972" y="122827"/>
                </a:cubicBezTo>
                <a:cubicBezTo>
                  <a:pt x="26225" y="129421"/>
                  <a:pt x="31796" y="137077"/>
                  <a:pt x="34525" y="145528"/>
                </a:cubicBezTo>
                <a:lnTo>
                  <a:pt x="110965" y="145528"/>
                </a:lnTo>
                <a:close/>
                <a:moveTo>
                  <a:pt x="109146" y="163719"/>
                </a:moveTo>
                <a:lnTo>
                  <a:pt x="36382" y="163719"/>
                </a:lnTo>
                <a:lnTo>
                  <a:pt x="36382" y="169782"/>
                </a:lnTo>
                <a:cubicBezTo>
                  <a:pt x="36382" y="186533"/>
                  <a:pt x="49949" y="200101"/>
                  <a:pt x="66700" y="200101"/>
                </a:cubicBezTo>
                <a:lnTo>
                  <a:pt x="78828" y="200101"/>
                </a:lnTo>
                <a:cubicBezTo>
                  <a:pt x="95578" y="200101"/>
                  <a:pt x="109146" y="186533"/>
                  <a:pt x="109146" y="169782"/>
                </a:cubicBezTo>
                <a:lnTo>
                  <a:pt x="109146" y="163719"/>
                </a:lnTo>
                <a:close/>
                <a:moveTo>
                  <a:pt x="69732" y="42446"/>
                </a:moveTo>
                <a:cubicBezTo>
                  <a:pt x="54649" y="42446"/>
                  <a:pt x="42446" y="54649"/>
                  <a:pt x="42446" y="69732"/>
                </a:cubicBezTo>
                <a:cubicBezTo>
                  <a:pt x="42446" y="74773"/>
                  <a:pt x="38391" y="78828"/>
                  <a:pt x="33350" y="78828"/>
                </a:cubicBezTo>
                <a:cubicBezTo>
                  <a:pt x="28310" y="78828"/>
                  <a:pt x="24255" y="74773"/>
                  <a:pt x="24255" y="69732"/>
                </a:cubicBezTo>
                <a:cubicBezTo>
                  <a:pt x="24255" y="44606"/>
                  <a:pt x="44606" y="24255"/>
                  <a:pt x="69732" y="24255"/>
                </a:cubicBezTo>
                <a:cubicBezTo>
                  <a:pt x="74773" y="24255"/>
                  <a:pt x="78828" y="28310"/>
                  <a:pt x="78828" y="33350"/>
                </a:cubicBezTo>
                <a:cubicBezTo>
                  <a:pt x="78828" y="38391"/>
                  <a:pt x="74773" y="42446"/>
                  <a:pt x="69732" y="4244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3" name="Text 51"/>
          <p:cNvSpPr/>
          <p:nvPr/>
        </p:nvSpPr>
        <p:spPr>
          <a:xfrm>
            <a:off x="7266286" y="5943804"/>
            <a:ext cx="87316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26721" y="6267200"/>
            <a:ext cx="4834759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Biomass is the world's fourth-largest energy source, providing approximately 10% of global primary energy supply, with significant growth potential in developing regions.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Biomass and Biogas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Biogas Production and Rural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43000"/>
            <a:ext cx="5683250" cy="4984750"/>
          </a:xfrm>
          <a:custGeom>
            <a:avLst/>
            <a:gdLst/>
            <a:ahLst/>
            <a:cxnLst/>
            <a:rect l="l" t="t" r="r" b="b"/>
            <a:pathLst>
              <a:path w="5683250" h="4984750">
                <a:moveTo>
                  <a:pt x="95259" y="0"/>
                </a:moveTo>
                <a:lnTo>
                  <a:pt x="5587991" y="0"/>
                </a:lnTo>
                <a:cubicBezTo>
                  <a:pt x="5640601" y="0"/>
                  <a:pt x="5683250" y="42649"/>
                  <a:pt x="5683250" y="95259"/>
                </a:cubicBezTo>
                <a:lnTo>
                  <a:pt x="5683250" y="4889491"/>
                </a:lnTo>
                <a:cubicBezTo>
                  <a:pt x="5683250" y="4942101"/>
                  <a:pt x="5640601" y="4984750"/>
                  <a:pt x="5587991" y="4984750"/>
                </a:cubicBezTo>
                <a:lnTo>
                  <a:pt x="95259" y="4984750"/>
                </a:lnTo>
                <a:cubicBezTo>
                  <a:pt x="42649" y="4984750"/>
                  <a:pt x="0" y="4942101"/>
                  <a:pt x="0" y="4889491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8000" y="1333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Anaerobic Digestion Process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7461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472281" y="1746153"/>
            <a:ext cx="452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746153"/>
            <a:ext cx="486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Feedstock 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000153"/>
            <a:ext cx="4857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materials like animal manure, crop residues, and food waste are collected and pre-treated.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5399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281" y="2539903"/>
            <a:ext cx="452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539903"/>
            <a:ext cx="486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Digestion Tank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793903"/>
            <a:ext cx="4857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 are placed in oxygen-free digesters where bacteria break down organic matter over 20-40 days.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3336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6" name="Text 14"/>
          <p:cNvSpPr/>
          <p:nvPr/>
        </p:nvSpPr>
        <p:spPr>
          <a:xfrm>
            <a:off x="472281" y="3333653"/>
            <a:ext cx="452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333653"/>
            <a:ext cx="486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Biogas Collection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587653"/>
            <a:ext cx="4857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Methane-rich gas (60-70% CH₄) is captured and stored for use in cooking, heating, or electricity generation.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41274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2281" y="4127403"/>
            <a:ext cx="452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127403"/>
            <a:ext cx="484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Digestate Output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381403"/>
            <a:ext cx="483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Nutrient-rich residue serves as organic fertilizer, completing the circular economy loop.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143000"/>
            <a:ext cx="5683250" cy="2825750"/>
          </a:xfrm>
          <a:custGeom>
            <a:avLst/>
            <a:gdLst/>
            <a:ahLst/>
            <a:cxnLst/>
            <a:rect l="l" t="t" r="r" b="b"/>
            <a:pathLst>
              <a:path w="5683250" h="2825750">
                <a:moveTo>
                  <a:pt x="95256" y="0"/>
                </a:moveTo>
                <a:lnTo>
                  <a:pt x="5587994" y="0"/>
                </a:lnTo>
                <a:cubicBezTo>
                  <a:pt x="5640602" y="0"/>
                  <a:pt x="5683250" y="42648"/>
                  <a:pt x="5683250" y="95256"/>
                </a:cubicBezTo>
                <a:lnTo>
                  <a:pt x="5683250" y="2730494"/>
                </a:lnTo>
                <a:cubicBezTo>
                  <a:pt x="5683250" y="2783102"/>
                  <a:pt x="5640602" y="2825750"/>
                  <a:pt x="5587994" y="2825750"/>
                </a:cubicBezTo>
                <a:lnTo>
                  <a:pt x="95256" y="2825750"/>
                </a:lnTo>
                <a:cubicBezTo>
                  <a:pt x="42648" y="2825750"/>
                  <a:pt x="0" y="2783102"/>
                  <a:pt x="0" y="27304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24" name="Text 22"/>
          <p:cNvSpPr/>
          <p:nvPr/>
        </p:nvSpPr>
        <p:spPr>
          <a:xfrm>
            <a:off x="6381750" y="1333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Biogas Composition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1750" y="1730278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Methane (CH₄)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81160" y="1714403"/>
            <a:ext cx="57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60-70%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2000153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81750" y="2000153"/>
            <a:ext cx="3444875" cy="95250"/>
          </a:xfrm>
          <a:custGeom>
            <a:avLst/>
            <a:gdLst/>
            <a:ahLst/>
            <a:cxnLst/>
            <a:rect l="l" t="t" r="r" b="b"/>
            <a:pathLst>
              <a:path w="3444875" h="95250">
                <a:moveTo>
                  <a:pt x="47625" y="0"/>
                </a:moveTo>
                <a:lnTo>
                  <a:pt x="3397250" y="0"/>
                </a:lnTo>
                <a:cubicBezTo>
                  <a:pt x="3423535" y="0"/>
                  <a:pt x="3444875" y="21340"/>
                  <a:pt x="3444875" y="47625"/>
                </a:cubicBezTo>
                <a:lnTo>
                  <a:pt x="3444875" y="47625"/>
                </a:lnTo>
                <a:cubicBezTo>
                  <a:pt x="3444875" y="73910"/>
                  <a:pt x="3423535" y="95250"/>
                  <a:pt x="33972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9" name="Text 27"/>
          <p:cNvSpPr/>
          <p:nvPr/>
        </p:nvSpPr>
        <p:spPr>
          <a:xfrm>
            <a:off x="6381750" y="2127153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energy component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1750" y="2460528"/>
            <a:ext cx="125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Dioxide (CO₂)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95447" y="2444653"/>
            <a:ext cx="57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30-40%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2730403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81750" y="2730403"/>
            <a:ext cx="1857375" cy="95250"/>
          </a:xfrm>
          <a:custGeom>
            <a:avLst/>
            <a:gdLst/>
            <a:ahLst/>
            <a:cxnLst/>
            <a:rect l="l" t="t" r="r" b="b"/>
            <a:pathLst>
              <a:path w="1857375" h="95250">
                <a:moveTo>
                  <a:pt x="47625" y="0"/>
                </a:moveTo>
                <a:lnTo>
                  <a:pt x="1809750" y="0"/>
                </a:lnTo>
                <a:cubicBezTo>
                  <a:pt x="1836035" y="0"/>
                  <a:pt x="1857375" y="21340"/>
                  <a:pt x="1857375" y="47625"/>
                </a:cubicBezTo>
                <a:lnTo>
                  <a:pt x="1857375" y="47625"/>
                </a:lnTo>
                <a:cubicBezTo>
                  <a:pt x="1857375" y="73910"/>
                  <a:pt x="1836035" y="95250"/>
                  <a:pt x="18097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4" name="Text 32"/>
          <p:cNvSpPr/>
          <p:nvPr/>
        </p:nvSpPr>
        <p:spPr>
          <a:xfrm>
            <a:off x="6381750" y="2857403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Inert gas component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3190778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Gases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23948" y="3174903"/>
            <a:ext cx="34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&lt;1%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3460653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81750" y="3460653"/>
            <a:ext cx="55563" cy="95250"/>
          </a:xfrm>
          <a:custGeom>
            <a:avLst/>
            <a:gdLst/>
            <a:ahLst/>
            <a:cxnLst/>
            <a:rect l="l" t="t" r="r" b="b"/>
            <a:pathLst>
              <a:path w="55563" h="95250">
                <a:moveTo>
                  <a:pt x="27781" y="0"/>
                </a:moveTo>
                <a:lnTo>
                  <a:pt x="27781" y="0"/>
                </a:lnTo>
                <a:cubicBezTo>
                  <a:pt x="43114" y="0"/>
                  <a:pt x="55563" y="12448"/>
                  <a:pt x="55563" y="27781"/>
                </a:cubicBezTo>
                <a:lnTo>
                  <a:pt x="55563" y="67469"/>
                </a:lnTo>
                <a:cubicBezTo>
                  <a:pt x="55563" y="82802"/>
                  <a:pt x="43114" y="95250"/>
                  <a:pt x="27781" y="95250"/>
                </a:cubicBezTo>
                <a:lnTo>
                  <a:pt x="27781" y="95250"/>
                </a:lnTo>
                <a:cubicBezTo>
                  <a:pt x="12448" y="95250"/>
                  <a:pt x="0" y="82802"/>
                  <a:pt x="0" y="67469"/>
                </a:cubicBezTo>
                <a:lnTo>
                  <a:pt x="0" y="27781"/>
                </a:lnTo>
                <a:cubicBezTo>
                  <a:pt x="0" y="12448"/>
                  <a:pt x="12448" y="0"/>
                  <a:pt x="27781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9" name="Text 37"/>
          <p:cNvSpPr/>
          <p:nvPr/>
        </p:nvSpPr>
        <p:spPr>
          <a:xfrm>
            <a:off x="6381750" y="3587653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H₂S, NH₃, trace elements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250" y="4095653"/>
            <a:ext cx="5683250" cy="2032000"/>
          </a:xfrm>
          <a:custGeom>
            <a:avLst/>
            <a:gdLst/>
            <a:ahLst/>
            <a:cxnLst/>
            <a:rect l="l" t="t" r="r" b="b"/>
            <a:pathLst>
              <a:path w="5683250" h="2032000">
                <a:moveTo>
                  <a:pt x="95260" y="0"/>
                </a:moveTo>
                <a:lnTo>
                  <a:pt x="5587990" y="0"/>
                </a:lnTo>
                <a:cubicBezTo>
                  <a:pt x="5640601" y="0"/>
                  <a:pt x="5683250" y="42649"/>
                  <a:pt x="5683250" y="95260"/>
                </a:cubicBezTo>
                <a:lnTo>
                  <a:pt x="5683250" y="1936740"/>
                </a:lnTo>
                <a:cubicBezTo>
                  <a:pt x="5683250" y="1989351"/>
                  <a:pt x="5640601" y="2032000"/>
                  <a:pt x="5587990" y="2032000"/>
                </a:cubicBezTo>
                <a:lnTo>
                  <a:pt x="95260" y="2032000"/>
                </a:lnTo>
                <a:cubicBezTo>
                  <a:pt x="42685" y="2032000"/>
                  <a:pt x="0" y="1989315"/>
                  <a:pt x="0" y="1936740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50000" y="425440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Rural Applications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0000" y="4603653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84281" y="469890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4" name="Text 42"/>
          <p:cNvSpPr/>
          <p:nvPr/>
        </p:nvSpPr>
        <p:spPr>
          <a:xfrm>
            <a:off x="6413500" y="495290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80500" y="4603653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302875" y="46989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1157" y="0"/>
                  <a:pt x="107156" y="15999"/>
                  <a:pt x="107156" y="35719"/>
                </a:cubicBezTo>
                <a:lnTo>
                  <a:pt x="107156" y="96999"/>
                </a:lnTo>
                <a:cubicBezTo>
                  <a:pt x="118132" y="106821"/>
                  <a:pt x="125016" y="121072"/>
                  <a:pt x="125016" y="136922"/>
                </a:cubicBezTo>
                <a:cubicBezTo>
                  <a:pt x="125016" y="166501"/>
                  <a:pt x="101017" y="190500"/>
                  <a:pt x="71438" y="190500"/>
                </a:cubicBezTo>
                <a:cubicBezTo>
                  <a:pt x="41858" y="190500"/>
                  <a:pt x="17859" y="166501"/>
                  <a:pt x="17859" y="136922"/>
                </a:cubicBezTo>
                <a:cubicBezTo>
                  <a:pt x="17859" y="121072"/>
                  <a:pt x="24743" y="106784"/>
                  <a:pt x="35719" y="96999"/>
                </a:cubicBezTo>
                <a:lnTo>
                  <a:pt x="35719" y="35719"/>
                </a:lnTo>
                <a:close/>
                <a:moveTo>
                  <a:pt x="71438" y="160734"/>
                </a:moveTo>
                <a:cubicBezTo>
                  <a:pt x="84572" y="160734"/>
                  <a:pt x="95250" y="150056"/>
                  <a:pt x="95250" y="136922"/>
                </a:cubicBezTo>
                <a:cubicBezTo>
                  <a:pt x="95250" y="126913"/>
                  <a:pt x="89111" y="118356"/>
                  <a:pt x="80367" y="114858"/>
                </a:cubicBezTo>
                <a:lnTo>
                  <a:pt x="80367" y="35719"/>
                </a:lnTo>
                <a:cubicBezTo>
                  <a:pt x="80367" y="30770"/>
                  <a:pt x="76386" y="26789"/>
                  <a:pt x="71438" y="26789"/>
                </a:cubicBezTo>
                <a:cubicBezTo>
                  <a:pt x="66489" y="26789"/>
                  <a:pt x="62508" y="30770"/>
                  <a:pt x="62508" y="35719"/>
                </a:cubicBezTo>
                <a:lnTo>
                  <a:pt x="62508" y="114858"/>
                </a:lnTo>
                <a:cubicBezTo>
                  <a:pt x="53764" y="118393"/>
                  <a:pt x="47625" y="126950"/>
                  <a:pt x="47625" y="136922"/>
                </a:cubicBezTo>
                <a:cubicBezTo>
                  <a:pt x="47625" y="150056"/>
                  <a:pt x="58303" y="160734"/>
                  <a:pt x="71438" y="160734"/>
                </a:cubicBezTo>
                <a:close/>
                <a:moveTo>
                  <a:pt x="172641" y="29766"/>
                </a:moveTo>
                <a:cubicBezTo>
                  <a:pt x="172641" y="23194"/>
                  <a:pt x="167306" y="17859"/>
                  <a:pt x="160734" y="17859"/>
                </a:cubicBezTo>
                <a:cubicBezTo>
                  <a:pt x="154163" y="17859"/>
                  <a:pt x="148828" y="23194"/>
                  <a:pt x="148828" y="29766"/>
                </a:cubicBezTo>
                <a:cubicBezTo>
                  <a:pt x="148828" y="36337"/>
                  <a:pt x="154163" y="41672"/>
                  <a:pt x="160734" y="41672"/>
                </a:cubicBezTo>
                <a:cubicBezTo>
                  <a:pt x="167306" y="41672"/>
                  <a:pt x="172641" y="36337"/>
                  <a:pt x="172641" y="29766"/>
                </a:cubicBezTo>
                <a:close/>
                <a:moveTo>
                  <a:pt x="130969" y="29766"/>
                </a:moveTo>
                <a:cubicBezTo>
                  <a:pt x="130969" y="13338"/>
                  <a:pt x="144306" y="0"/>
                  <a:pt x="160734" y="0"/>
                </a:cubicBezTo>
                <a:cubicBezTo>
                  <a:pt x="177162" y="0"/>
                  <a:pt x="190500" y="13338"/>
                  <a:pt x="190500" y="29766"/>
                </a:cubicBezTo>
                <a:cubicBezTo>
                  <a:pt x="190500" y="46194"/>
                  <a:pt x="177162" y="59531"/>
                  <a:pt x="160734" y="59531"/>
                </a:cubicBezTo>
                <a:cubicBezTo>
                  <a:pt x="144306" y="59531"/>
                  <a:pt x="130969" y="46194"/>
                  <a:pt x="130969" y="2976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495290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0000" y="5333903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96187" y="542915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0" name="Text 48"/>
          <p:cNvSpPr/>
          <p:nvPr/>
        </p:nvSpPr>
        <p:spPr>
          <a:xfrm>
            <a:off x="6413500" y="568315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80500" y="5333903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314781" y="54291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0" y="568315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0675" y="6257828"/>
            <a:ext cx="11547475" cy="673100"/>
          </a:xfrm>
          <a:custGeom>
            <a:avLst/>
            <a:gdLst/>
            <a:ahLst/>
            <a:cxnLst/>
            <a:rect l="l" t="t" r="r" b="b"/>
            <a:pathLst>
              <a:path w="11547475" h="6731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577850"/>
                </a:lnTo>
                <a:cubicBezTo>
                  <a:pt x="11547475" y="630455"/>
                  <a:pt x="11504830" y="673100"/>
                  <a:pt x="11452225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 w="10160">
            <a:solidFill>
              <a:srgbClr val="4C8A7A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756" y="649912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35719"/>
                </a:moveTo>
                <a:lnTo>
                  <a:pt x="59531" y="71438"/>
                </a:lnTo>
                <a:lnTo>
                  <a:pt x="109165" y="71438"/>
                </a:lnTo>
                <a:lnTo>
                  <a:pt x="87734" y="35719"/>
                </a:lnTo>
                <a:lnTo>
                  <a:pt x="59531" y="35719"/>
                </a:lnTo>
                <a:close/>
                <a:moveTo>
                  <a:pt x="35719" y="82972"/>
                </a:move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lnTo>
                  <a:pt x="87734" y="11906"/>
                </a:lnTo>
                <a:cubicBezTo>
                  <a:pt x="96106" y="11906"/>
                  <a:pt x="103845" y="16297"/>
                  <a:pt x="108161" y="23478"/>
                </a:cubicBezTo>
                <a:lnTo>
                  <a:pt x="136959" y="71438"/>
                </a:lnTo>
                <a:lnTo>
                  <a:pt x="160772" y="71438"/>
                </a:lnTo>
                <a:lnTo>
                  <a:pt x="160772" y="44648"/>
                </a:lnTo>
                <a:cubicBezTo>
                  <a:pt x="160772" y="39700"/>
                  <a:pt x="164753" y="35719"/>
                  <a:pt x="169701" y="35719"/>
                </a:cubicBezTo>
                <a:cubicBezTo>
                  <a:pt x="174650" y="35719"/>
                  <a:pt x="178631" y="39700"/>
                  <a:pt x="178631" y="44648"/>
                </a:cubicBezTo>
                <a:lnTo>
                  <a:pt x="178631" y="71438"/>
                </a:lnTo>
                <a:lnTo>
                  <a:pt x="196490" y="71438"/>
                </a:lnTo>
                <a:cubicBezTo>
                  <a:pt x="206350" y="71438"/>
                  <a:pt x="214350" y="79437"/>
                  <a:pt x="214350" y="89297"/>
                </a:cubicBezTo>
                <a:lnTo>
                  <a:pt x="214350" y="104738"/>
                </a:lnTo>
                <a:cubicBezTo>
                  <a:pt x="214350" y="110021"/>
                  <a:pt x="212006" y="115081"/>
                  <a:pt x="207913" y="118467"/>
                </a:cubicBezTo>
                <a:lnTo>
                  <a:pt x="194890" y="129332"/>
                </a:lnTo>
                <a:cubicBezTo>
                  <a:pt x="204750" y="134987"/>
                  <a:pt x="211373" y="145591"/>
                  <a:pt x="211373" y="157758"/>
                </a:cubicBezTo>
                <a:cubicBezTo>
                  <a:pt x="211373" y="175840"/>
                  <a:pt x="196714" y="190500"/>
                  <a:pt x="178631" y="190500"/>
                </a:cubicBezTo>
                <a:cubicBezTo>
                  <a:pt x="160548" y="190500"/>
                  <a:pt x="145889" y="175840"/>
                  <a:pt x="145889" y="157758"/>
                </a:cubicBezTo>
                <a:cubicBezTo>
                  <a:pt x="145889" y="152400"/>
                  <a:pt x="147191" y="147340"/>
                  <a:pt x="149461" y="142875"/>
                </a:cubicBezTo>
                <a:lnTo>
                  <a:pt x="111807" y="142875"/>
                </a:lnTo>
                <a:cubicBezTo>
                  <a:pt x="110691" y="147861"/>
                  <a:pt x="108868" y="152549"/>
                  <a:pt x="106449" y="156902"/>
                </a:cubicBezTo>
                <a:cubicBezTo>
                  <a:pt x="109314" y="160400"/>
                  <a:pt x="109128" y="165608"/>
                  <a:pt x="105854" y="168883"/>
                </a:cubicBezTo>
                <a:lnTo>
                  <a:pt x="97445" y="177292"/>
                </a:lnTo>
                <a:cubicBezTo>
                  <a:pt x="94171" y="180566"/>
                  <a:pt x="88999" y="180752"/>
                  <a:pt x="85465" y="177887"/>
                </a:cubicBezTo>
                <a:cubicBezTo>
                  <a:pt x="82004" y="179822"/>
                  <a:pt x="78284" y="181347"/>
                  <a:pt x="74377" y="182463"/>
                </a:cubicBezTo>
                <a:cubicBezTo>
                  <a:pt x="73930" y="186965"/>
                  <a:pt x="70135" y="190500"/>
                  <a:pt x="65484" y="190500"/>
                </a:cubicBezTo>
                <a:lnTo>
                  <a:pt x="53578" y="190500"/>
                </a:lnTo>
                <a:cubicBezTo>
                  <a:pt x="48964" y="190500"/>
                  <a:pt x="45132" y="186965"/>
                  <a:pt x="44686" y="182463"/>
                </a:cubicBezTo>
                <a:cubicBezTo>
                  <a:pt x="40779" y="181347"/>
                  <a:pt x="37095" y="179784"/>
                  <a:pt x="33598" y="177887"/>
                </a:cubicBezTo>
                <a:cubicBezTo>
                  <a:pt x="30100" y="180752"/>
                  <a:pt x="24892" y="180566"/>
                  <a:pt x="21617" y="177292"/>
                </a:cubicBezTo>
                <a:lnTo>
                  <a:pt x="13208" y="168846"/>
                </a:lnTo>
                <a:cubicBezTo>
                  <a:pt x="9934" y="165571"/>
                  <a:pt x="9748" y="160400"/>
                  <a:pt x="12613" y="156865"/>
                </a:cubicBezTo>
                <a:cubicBezTo>
                  <a:pt x="10678" y="153405"/>
                  <a:pt x="9153" y="149684"/>
                  <a:pt x="8037" y="145777"/>
                </a:cubicBezTo>
                <a:cubicBezTo>
                  <a:pt x="3535" y="145331"/>
                  <a:pt x="0" y="141536"/>
                  <a:pt x="0" y="136885"/>
                </a:cubicBezTo>
                <a:lnTo>
                  <a:pt x="0" y="124978"/>
                </a:lnTo>
                <a:cubicBezTo>
                  <a:pt x="0" y="120365"/>
                  <a:pt x="3535" y="116532"/>
                  <a:pt x="8037" y="116086"/>
                </a:cubicBezTo>
                <a:cubicBezTo>
                  <a:pt x="9153" y="112179"/>
                  <a:pt x="10716" y="108496"/>
                  <a:pt x="12613" y="104998"/>
                </a:cubicBezTo>
                <a:cubicBezTo>
                  <a:pt x="9748" y="101501"/>
                  <a:pt x="9934" y="96292"/>
                  <a:pt x="13208" y="93018"/>
                </a:cubicBezTo>
                <a:lnTo>
                  <a:pt x="21617" y="84609"/>
                </a:lnTo>
                <a:cubicBezTo>
                  <a:pt x="24892" y="81335"/>
                  <a:pt x="30063" y="81149"/>
                  <a:pt x="33598" y="84013"/>
                </a:cubicBezTo>
                <a:cubicBezTo>
                  <a:pt x="34305" y="83641"/>
                  <a:pt x="34975" y="83269"/>
                  <a:pt x="35719" y="82897"/>
                </a:cubicBezTo>
                <a:close/>
                <a:moveTo>
                  <a:pt x="59531" y="107156"/>
                </a:moveTo>
                <a:cubicBezTo>
                  <a:pt x="46389" y="107156"/>
                  <a:pt x="35719" y="117826"/>
                  <a:pt x="35719" y="130969"/>
                </a:cubicBezTo>
                <a:cubicBezTo>
                  <a:pt x="35719" y="144111"/>
                  <a:pt x="46389" y="154781"/>
                  <a:pt x="59531" y="154781"/>
                </a:cubicBezTo>
                <a:cubicBezTo>
                  <a:pt x="72674" y="154781"/>
                  <a:pt x="83344" y="144111"/>
                  <a:pt x="83344" y="130969"/>
                </a:cubicBezTo>
                <a:cubicBezTo>
                  <a:pt x="83344" y="117826"/>
                  <a:pt x="72674" y="107156"/>
                  <a:pt x="59531" y="107156"/>
                </a:cubicBezTo>
                <a:close/>
                <a:moveTo>
                  <a:pt x="163711" y="157758"/>
                </a:moveTo>
                <a:cubicBezTo>
                  <a:pt x="163711" y="165972"/>
                  <a:pt x="170380" y="172641"/>
                  <a:pt x="178594" y="172641"/>
                </a:cubicBezTo>
                <a:cubicBezTo>
                  <a:pt x="186808" y="172641"/>
                  <a:pt x="193477" y="165972"/>
                  <a:pt x="193477" y="157758"/>
                </a:cubicBezTo>
                <a:cubicBezTo>
                  <a:pt x="193477" y="149544"/>
                  <a:pt x="186808" y="142875"/>
                  <a:pt x="178594" y="142875"/>
                </a:cubicBezTo>
                <a:cubicBezTo>
                  <a:pt x="170380" y="142875"/>
                  <a:pt x="163711" y="149544"/>
                  <a:pt x="163711" y="15775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6" name="Text 54"/>
          <p:cNvSpPr/>
          <p:nvPr/>
        </p:nvSpPr>
        <p:spPr>
          <a:xfrm>
            <a:off x="784225" y="6388002"/>
            <a:ext cx="11017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Rural Lives: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Biogas systems provide clean cooking fuel, reduce indoor air pollution, improve sanitation through waste management, and generate organic fertilizer—creating multiple benefits for farming communities.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eliquidgrid.com/459d72f5ff6a9f15813894f26d270b2e05e56795.png">    </p:cNvPr>
          <p:cNvPicPr>
            <a:picLocks noChangeAspect="1"/>
          </p:cNvPicPr>
          <p:nvPr/>
        </p:nvPicPr>
        <p:blipFill>
          <a:blip r:embed="rId1"/>
          <a:srcRect l="1704" r="170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86838" y="0"/>
            <a:ext cx="12278838" cy="6858000"/>
          </a:xfrm>
          <a:custGeom>
            <a:avLst/>
            <a:gdLst/>
            <a:ahLst/>
            <a:cxnLst/>
            <a:rect l="l" t="t" r="r" b="b"/>
            <a:pathLst>
              <a:path w="12278838" h="6858000">
                <a:moveTo>
                  <a:pt x="0" y="0"/>
                </a:moveTo>
                <a:lnTo>
                  <a:pt x="12278838" y="0"/>
                </a:lnTo>
                <a:lnTo>
                  <a:pt x="1227883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817494"/>
            <a:ext cx="1322070" cy="388620"/>
          </a:xfrm>
          <a:custGeom>
            <a:avLst/>
            <a:gdLst/>
            <a:ahLst/>
            <a:cxnLst/>
            <a:rect l="l" t="t" r="r" b="b"/>
            <a:pathLst>
              <a:path w="1322070" h="388620">
                <a:moveTo>
                  <a:pt x="194310" y="0"/>
                </a:moveTo>
                <a:lnTo>
                  <a:pt x="1127760" y="0"/>
                </a:lnTo>
                <a:cubicBezTo>
                  <a:pt x="1235074" y="0"/>
                  <a:pt x="1322070" y="86996"/>
                  <a:pt x="1322070" y="194310"/>
                </a:cubicBezTo>
                <a:lnTo>
                  <a:pt x="1322070" y="194310"/>
                </a:lnTo>
                <a:cubicBezTo>
                  <a:pt x="1322070" y="301624"/>
                  <a:pt x="1235074" y="388620"/>
                  <a:pt x="11277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 w="10160">
            <a:solidFill>
              <a:srgbClr val="8FB7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019644"/>
            <a:ext cx="1009650" cy="383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35615" y="3981260"/>
            <a:ext cx="5334461" cy="188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Ocean Thermal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Energy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65872" y="583133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5"/>
          <p:cNvSpPr/>
          <p:nvPr/>
        </p:nvSpPr>
        <p:spPr>
          <a:xfrm>
            <a:off x="6535615" y="5977982"/>
            <a:ext cx="4791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Tapping into the Ocean's Temperature Gradient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Ocean Thermal Energy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Ocean Thermal Energy Conversion (OTEC)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43000"/>
            <a:ext cx="5683250" cy="2301875"/>
          </a:xfrm>
          <a:custGeom>
            <a:avLst/>
            <a:gdLst/>
            <a:ahLst/>
            <a:cxnLst/>
            <a:rect l="l" t="t" r="r" b="b"/>
            <a:pathLst>
              <a:path w="5683250" h="2301875">
                <a:moveTo>
                  <a:pt x="95252" y="0"/>
                </a:moveTo>
                <a:lnTo>
                  <a:pt x="5587998" y="0"/>
                </a:lnTo>
                <a:cubicBezTo>
                  <a:pt x="5640604" y="0"/>
                  <a:pt x="5683250" y="42646"/>
                  <a:pt x="5683250" y="95252"/>
                </a:cubicBezTo>
                <a:lnTo>
                  <a:pt x="5683250" y="2206623"/>
                </a:lnTo>
                <a:cubicBezTo>
                  <a:pt x="5683250" y="2259229"/>
                  <a:pt x="5640604" y="2301875"/>
                  <a:pt x="5587998" y="2301875"/>
                </a:cubicBezTo>
                <a:lnTo>
                  <a:pt x="95252" y="2301875"/>
                </a:lnTo>
                <a:cubicBezTo>
                  <a:pt x="42646" y="2301875"/>
                  <a:pt x="0" y="2259229"/>
                  <a:pt x="0" y="220662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8000" y="1333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Temperature Differential Principle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714399"/>
            <a:ext cx="536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OTEC exploits the natural temperature difference between warm surface seawater (25-30°C) and cold deep ocean water (4-7°C) to generate electricity through a heat engine cycle.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2254149"/>
            <a:ext cx="2587625" cy="1000125"/>
          </a:xfrm>
          <a:custGeom>
            <a:avLst/>
            <a:gdLst/>
            <a:ahLst/>
            <a:cxnLst/>
            <a:rect l="l" t="t" r="r" b="b"/>
            <a:pathLst>
              <a:path w="2587625" h="1000125">
                <a:moveTo>
                  <a:pt x="63498" y="0"/>
                </a:moveTo>
                <a:lnTo>
                  <a:pt x="2524127" y="0"/>
                </a:lnTo>
                <a:cubicBezTo>
                  <a:pt x="2559196" y="0"/>
                  <a:pt x="2587625" y="28429"/>
                  <a:pt x="2587625" y="63498"/>
                </a:cubicBezTo>
                <a:lnTo>
                  <a:pt x="2587625" y="936627"/>
                </a:lnTo>
                <a:cubicBezTo>
                  <a:pt x="2587625" y="971696"/>
                  <a:pt x="2559196" y="1000125"/>
                  <a:pt x="2524127" y="1000125"/>
                </a:cubicBezTo>
                <a:lnTo>
                  <a:pt x="63498" y="1000125"/>
                </a:lnTo>
                <a:cubicBezTo>
                  <a:pt x="28429" y="1000125"/>
                  <a:pt x="0" y="971696"/>
                  <a:pt x="0" y="9366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69852" y="2381149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82879" y="-4697"/>
                </a:moveTo>
                <a:cubicBezTo>
                  <a:pt x="86320" y="-6139"/>
                  <a:pt x="90227" y="-5721"/>
                  <a:pt x="93343" y="-3674"/>
                </a:cubicBezTo>
                <a:lnTo>
                  <a:pt x="134178" y="23394"/>
                </a:lnTo>
                <a:lnTo>
                  <a:pt x="175013" y="-3674"/>
                </a:lnTo>
                <a:cubicBezTo>
                  <a:pt x="178129" y="-5721"/>
                  <a:pt x="182035" y="-6093"/>
                  <a:pt x="185477" y="-4697"/>
                </a:cubicBezTo>
                <a:cubicBezTo>
                  <a:pt x="188919" y="-3302"/>
                  <a:pt x="191337" y="-233"/>
                  <a:pt x="192081" y="3395"/>
                </a:cubicBezTo>
                <a:lnTo>
                  <a:pt x="201802" y="51392"/>
                </a:lnTo>
                <a:lnTo>
                  <a:pt x="249799" y="61113"/>
                </a:lnTo>
                <a:cubicBezTo>
                  <a:pt x="253426" y="61857"/>
                  <a:pt x="256496" y="64368"/>
                  <a:pt x="257891" y="67763"/>
                </a:cubicBezTo>
                <a:cubicBezTo>
                  <a:pt x="259286" y="71158"/>
                  <a:pt x="258914" y="75112"/>
                  <a:pt x="256868" y="78228"/>
                </a:cubicBezTo>
                <a:lnTo>
                  <a:pt x="229800" y="119062"/>
                </a:lnTo>
                <a:lnTo>
                  <a:pt x="256868" y="159897"/>
                </a:lnTo>
                <a:cubicBezTo>
                  <a:pt x="258914" y="163013"/>
                  <a:pt x="259286" y="166920"/>
                  <a:pt x="257891" y="170362"/>
                </a:cubicBezTo>
                <a:cubicBezTo>
                  <a:pt x="256496" y="173803"/>
                  <a:pt x="253426" y="176315"/>
                  <a:pt x="249799" y="177012"/>
                </a:cubicBezTo>
                <a:lnTo>
                  <a:pt x="201755" y="186686"/>
                </a:lnTo>
                <a:lnTo>
                  <a:pt x="192081" y="234730"/>
                </a:lnTo>
                <a:cubicBezTo>
                  <a:pt x="191337" y="238358"/>
                  <a:pt x="188826" y="241427"/>
                  <a:pt x="185431" y="242822"/>
                </a:cubicBezTo>
                <a:cubicBezTo>
                  <a:pt x="182035" y="244218"/>
                  <a:pt x="178082" y="243846"/>
                  <a:pt x="174966" y="241799"/>
                </a:cubicBezTo>
                <a:lnTo>
                  <a:pt x="134131" y="214731"/>
                </a:lnTo>
                <a:lnTo>
                  <a:pt x="93297" y="241799"/>
                </a:lnTo>
                <a:cubicBezTo>
                  <a:pt x="90181" y="243846"/>
                  <a:pt x="86274" y="244218"/>
                  <a:pt x="82832" y="242822"/>
                </a:cubicBezTo>
                <a:cubicBezTo>
                  <a:pt x="79391" y="241427"/>
                  <a:pt x="76879" y="238358"/>
                  <a:pt x="76181" y="234730"/>
                </a:cubicBezTo>
                <a:lnTo>
                  <a:pt x="66508" y="186686"/>
                </a:lnTo>
                <a:lnTo>
                  <a:pt x="18464" y="176966"/>
                </a:lnTo>
                <a:cubicBezTo>
                  <a:pt x="14836" y="176222"/>
                  <a:pt x="11767" y="173710"/>
                  <a:pt x="10371" y="170315"/>
                </a:cubicBezTo>
                <a:cubicBezTo>
                  <a:pt x="8976" y="166920"/>
                  <a:pt x="9348" y="162967"/>
                  <a:pt x="11395" y="159851"/>
                </a:cubicBezTo>
                <a:lnTo>
                  <a:pt x="38463" y="119062"/>
                </a:lnTo>
                <a:lnTo>
                  <a:pt x="11395" y="78228"/>
                </a:lnTo>
                <a:cubicBezTo>
                  <a:pt x="9348" y="75112"/>
                  <a:pt x="8976" y="71205"/>
                  <a:pt x="10371" y="67763"/>
                </a:cubicBezTo>
                <a:cubicBezTo>
                  <a:pt x="11767" y="64322"/>
                  <a:pt x="14836" y="61810"/>
                  <a:pt x="18464" y="61113"/>
                </a:cubicBezTo>
                <a:lnTo>
                  <a:pt x="66508" y="51439"/>
                </a:lnTo>
                <a:lnTo>
                  <a:pt x="76228" y="3395"/>
                </a:lnTo>
                <a:cubicBezTo>
                  <a:pt x="76972" y="-233"/>
                  <a:pt x="79484" y="-3302"/>
                  <a:pt x="82879" y="-4697"/>
                </a:cubicBezTo>
                <a:close/>
                <a:moveTo>
                  <a:pt x="96552" y="119062"/>
                </a:moveTo>
                <a:cubicBezTo>
                  <a:pt x="96552" y="105703"/>
                  <a:pt x="103679" y="93359"/>
                  <a:pt x="115249" y="86679"/>
                </a:cubicBezTo>
                <a:cubicBezTo>
                  <a:pt x="126818" y="80000"/>
                  <a:pt x="141072" y="80000"/>
                  <a:pt x="152642" y="86679"/>
                </a:cubicBezTo>
                <a:cubicBezTo>
                  <a:pt x="164211" y="93359"/>
                  <a:pt x="171338" y="105703"/>
                  <a:pt x="171338" y="119062"/>
                </a:cubicBezTo>
                <a:cubicBezTo>
                  <a:pt x="171338" y="139700"/>
                  <a:pt x="154583" y="156456"/>
                  <a:pt x="133945" y="156456"/>
                </a:cubicBezTo>
                <a:cubicBezTo>
                  <a:pt x="113308" y="156456"/>
                  <a:pt x="96552" y="139700"/>
                  <a:pt x="96552" y="119062"/>
                </a:cubicBezTo>
                <a:close/>
                <a:moveTo>
                  <a:pt x="193663" y="119062"/>
                </a:moveTo>
                <a:cubicBezTo>
                  <a:pt x="193663" y="86104"/>
                  <a:pt x="166904" y="59345"/>
                  <a:pt x="133945" y="59345"/>
                </a:cubicBezTo>
                <a:cubicBezTo>
                  <a:pt x="100986" y="59345"/>
                  <a:pt x="74228" y="86104"/>
                  <a:pt x="74228" y="119062"/>
                </a:cubicBezTo>
                <a:cubicBezTo>
                  <a:pt x="74228" y="140397"/>
                  <a:pt x="85610" y="160112"/>
                  <a:pt x="104087" y="170779"/>
                </a:cubicBezTo>
                <a:cubicBezTo>
                  <a:pt x="122563" y="181447"/>
                  <a:pt x="145327" y="181447"/>
                  <a:pt x="163804" y="170779"/>
                </a:cubicBezTo>
                <a:cubicBezTo>
                  <a:pt x="182281" y="160112"/>
                  <a:pt x="193663" y="140397"/>
                  <a:pt x="193663" y="119062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" y="2682774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 Water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375" y="2873274"/>
            <a:ext cx="2428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25-30°C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2625" y="2254149"/>
            <a:ext cx="2587625" cy="1000125"/>
          </a:xfrm>
          <a:custGeom>
            <a:avLst/>
            <a:gdLst/>
            <a:ahLst/>
            <a:cxnLst/>
            <a:rect l="l" t="t" r="r" b="b"/>
            <a:pathLst>
              <a:path w="2587625" h="1000125">
                <a:moveTo>
                  <a:pt x="63498" y="0"/>
                </a:moveTo>
                <a:lnTo>
                  <a:pt x="2524127" y="0"/>
                </a:lnTo>
                <a:cubicBezTo>
                  <a:pt x="2559196" y="0"/>
                  <a:pt x="2587625" y="28429"/>
                  <a:pt x="2587625" y="63498"/>
                </a:cubicBezTo>
                <a:lnTo>
                  <a:pt x="2587625" y="936627"/>
                </a:lnTo>
                <a:cubicBezTo>
                  <a:pt x="2587625" y="971696"/>
                  <a:pt x="2559196" y="1000125"/>
                  <a:pt x="2524127" y="1000125"/>
                </a:cubicBezTo>
                <a:lnTo>
                  <a:pt x="63498" y="1000125"/>
                </a:lnTo>
                <a:cubicBezTo>
                  <a:pt x="28429" y="1000125"/>
                  <a:pt x="0" y="971696"/>
                  <a:pt x="0" y="9366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2F3E3B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99359" y="238114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34038" y="0"/>
                </a:moveTo>
                <a:cubicBezTo>
                  <a:pt x="134038" y="-8232"/>
                  <a:pt x="127388" y="-14883"/>
                  <a:pt x="119156" y="-14883"/>
                </a:cubicBezTo>
                <a:cubicBezTo>
                  <a:pt x="110923" y="-14883"/>
                  <a:pt x="104273" y="-8232"/>
                  <a:pt x="104273" y="0"/>
                </a:cubicBezTo>
                <a:lnTo>
                  <a:pt x="104273" y="28882"/>
                </a:lnTo>
                <a:lnTo>
                  <a:pt x="97296" y="21906"/>
                </a:lnTo>
                <a:cubicBezTo>
                  <a:pt x="92925" y="17534"/>
                  <a:pt x="85855" y="17534"/>
                  <a:pt x="81530" y="21906"/>
                </a:cubicBezTo>
                <a:cubicBezTo>
                  <a:pt x="77205" y="26277"/>
                  <a:pt x="77158" y="33347"/>
                  <a:pt x="81530" y="37672"/>
                </a:cubicBezTo>
                <a:lnTo>
                  <a:pt x="104319" y="60461"/>
                </a:lnTo>
                <a:lnTo>
                  <a:pt x="104319" y="93297"/>
                </a:lnTo>
                <a:lnTo>
                  <a:pt x="75856" y="76879"/>
                </a:lnTo>
                <a:lnTo>
                  <a:pt x="67531" y="45765"/>
                </a:lnTo>
                <a:cubicBezTo>
                  <a:pt x="65949" y="39812"/>
                  <a:pt x="59810" y="36277"/>
                  <a:pt x="53857" y="37858"/>
                </a:cubicBezTo>
                <a:cubicBezTo>
                  <a:pt x="47904" y="39439"/>
                  <a:pt x="44323" y="45579"/>
                  <a:pt x="45904" y="51532"/>
                </a:cubicBezTo>
                <a:lnTo>
                  <a:pt x="48462" y="61066"/>
                </a:lnTo>
                <a:lnTo>
                  <a:pt x="23487" y="46648"/>
                </a:lnTo>
                <a:cubicBezTo>
                  <a:pt x="16371" y="42556"/>
                  <a:pt x="7255" y="44974"/>
                  <a:pt x="3163" y="52090"/>
                </a:cubicBezTo>
                <a:cubicBezTo>
                  <a:pt x="-930" y="59206"/>
                  <a:pt x="1488" y="68321"/>
                  <a:pt x="8604" y="72414"/>
                </a:cubicBezTo>
                <a:lnTo>
                  <a:pt x="33579" y="86832"/>
                </a:lnTo>
                <a:lnTo>
                  <a:pt x="24045" y="89390"/>
                </a:lnTo>
                <a:cubicBezTo>
                  <a:pt x="18092" y="90971"/>
                  <a:pt x="14557" y="97110"/>
                  <a:pt x="16139" y="103063"/>
                </a:cubicBezTo>
                <a:cubicBezTo>
                  <a:pt x="17720" y="109017"/>
                  <a:pt x="23859" y="112551"/>
                  <a:pt x="29812" y="110970"/>
                </a:cubicBezTo>
                <a:lnTo>
                  <a:pt x="60927" y="102645"/>
                </a:lnTo>
                <a:lnTo>
                  <a:pt x="89390" y="119062"/>
                </a:lnTo>
                <a:lnTo>
                  <a:pt x="60927" y="135480"/>
                </a:lnTo>
                <a:lnTo>
                  <a:pt x="29812" y="127155"/>
                </a:lnTo>
                <a:cubicBezTo>
                  <a:pt x="23859" y="125574"/>
                  <a:pt x="17720" y="129108"/>
                  <a:pt x="16139" y="135062"/>
                </a:cubicBezTo>
                <a:cubicBezTo>
                  <a:pt x="14557" y="141015"/>
                  <a:pt x="18092" y="147154"/>
                  <a:pt x="24045" y="148735"/>
                </a:cubicBezTo>
                <a:lnTo>
                  <a:pt x="33579" y="151293"/>
                </a:lnTo>
                <a:lnTo>
                  <a:pt x="8604" y="165711"/>
                </a:lnTo>
                <a:cubicBezTo>
                  <a:pt x="1488" y="169804"/>
                  <a:pt x="-930" y="178919"/>
                  <a:pt x="3163" y="186035"/>
                </a:cubicBezTo>
                <a:cubicBezTo>
                  <a:pt x="7255" y="193151"/>
                  <a:pt x="16371" y="195616"/>
                  <a:pt x="23487" y="191477"/>
                </a:cubicBezTo>
                <a:lnTo>
                  <a:pt x="48462" y="177059"/>
                </a:lnTo>
                <a:lnTo>
                  <a:pt x="45904" y="186593"/>
                </a:lnTo>
                <a:cubicBezTo>
                  <a:pt x="44323" y="192546"/>
                  <a:pt x="47858" y="198686"/>
                  <a:pt x="53811" y="200267"/>
                </a:cubicBezTo>
                <a:cubicBezTo>
                  <a:pt x="59764" y="201848"/>
                  <a:pt x="65903" y="198313"/>
                  <a:pt x="67484" y="192360"/>
                </a:cubicBezTo>
                <a:lnTo>
                  <a:pt x="75809" y="161246"/>
                </a:lnTo>
                <a:lnTo>
                  <a:pt x="104273" y="144828"/>
                </a:lnTo>
                <a:lnTo>
                  <a:pt x="104273" y="177664"/>
                </a:lnTo>
                <a:lnTo>
                  <a:pt x="81483" y="200453"/>
                </a:lnTo>
                <a:cubicBezTo>
                  <a:pt x="77112" y="204825"/>
                  <a:pt x="77112" y="211894"/>
                  <a:pt x="81483" y="216219"/>
                </a:cubicBezTo>
                <a:cubicBezTo>
                  <a:pt x="85855" y="220545"/>
                  <a:pt x="92925" y="220591"/>
                  <a:pt x="97250" y="216219"/>
                </a:cubicBezTo>
                <a:lnTo>
                  <a:pt x="104226" y="209243"/>
                </a:lnTo>
                <a:lnTo>
                  <a:pt x="104226" y="238125"/>
                </a:lnTo>
                <a:cubicBezTo>
                  <a:pt x="104226" y="246357"/>
                  <a:pt x="110877" y="253008"/>
                  <a:pt x="119109" y="253008"/>
                </a:cubicBezTo>
                <a:cubicBezTo>
                  <a:pt x="127341" y="253008"/>
                  <a:pt x="133992" y="246357"/>
                  <a:pt x="133992" y="238125"/>
                </a:cubicBezTo>
                <a:lnTo>
                  <a:pt x="133992" y="209243"/>
                </a:lnTo>
                <a:lnTo>
                  <a:pt x="140968" y="216219"/>
                </a:lnTo>
                <a:cubicBezTo>
                  <a:pt x="145340" y="220591"/>
                  <a:pt x="152409" y="220591"/>
                  <a:pt x="156735" y="216219"/>
                </a:cubicBezTo>
                <a:cubicBezTo>
                  <a:pt x="161060" y="211848"/>
                  <a:pt x="161106" y="204778"/>
                  <a:pt x="156735" y="200453"/>
                </a:cubicBezTo>
                <a:lnTo>
                  <a:pt x="133945" y="177664"/>
                </a:lnTo>
                <a:lnTo>
                  <a:pt x="133945" y="144828"/>
                </a:lnTo>
                <a:lnTo>
                  <a:pt x="162409" y="161246"/>
                </a:lnTo>
                <a:lnTo>
                  <a:pt x="170734" y="192360"/>
                </a:lnTo>
                <a:cubicBezTo>
                  <a:pt x="172315" y="198313"/>
                  <a:pt x="178454" y="201848"/>
                  <a:pt x="184407" y="200267"/>
                </a:cubicBezTo>
                <a:cubicBezTo>
                  <a:pt x="190360" y="198686"/>
                  <a:pt x="193895" y="192546"/>
                  <a:pt x="192314" y="186593"/>
                </a:cubicBezTo>
                <a:lnTo>
                  <a:pt x="189756" y="177059"/>
                </a:lnTo>
                <a:lnTo>
                  <a:pt x="214731" y="191477"/>
                </a:lnTo>
                <a:cubicBezTo>
                  <a:pt x="221847" y="195569"/>
                  <a:pt x="230963" y="193151"/>
                  <a:pt x="235055" y="186035"/>
                </a:cubicBezTo>
                <a:cubicBezTo>
                  <a:pt x="239148" y="178919"/>
                  <a:pt x="236730" y="169804"/>
                  <a:pt x="229614" y="165711"/>
                </a:cubicBezTo>
                <a:lnTo>
                  <a:pt x="204639" y="151293"/>
                </a:lnTo>
                <a:lnTo>
                  <a:pt x="214173" y="148735"/>
                </a:lnTo>
                <a:cubicBezTo>
                  <a:pt x="220126" y="147154"/>
                  <a:pt x="223661" y="141015"/>
                  <a:pt x="222079" y="135062"/>
                </a:cubicBezTo>
                <a:cubicBezTo>
                  <a:pt x="220498" y="129108"/>
                  <a:pt x="214359" y="125574"/>
                  <a:pt x="208406" y="127155"/>
                </a:cubicBezTo>
                <a:lnTo>
                  <a:pt x="177292" y="135480"/>
                </a:lnTo>
                <a:lnTo>
                  <a:pt x="148828" y="119062"/>
                </a:lnTo>
                <a:lnTo>
                  <a:pt x="177292" y="102645"/>
                </a:lnTo>
                <a:lnTo>
                  <a:pt x="208406" y="110970"/>
                </a:lnTo>
                <a:cubicBezTo>
                  <a:pt x="214359" y="112551"/>
                  <a:pt x="220498" y="109017"/>
                  <a:pt x="222079" y="103063"/>
                </a:cubicBezTo>
                <a:cubicBezTo>
                  <a:pt x="223661" y="97110"/>
                  <a:pt x="220126" y="90971"/>
                  <a:pt x="214173" y="89390"/>
                </a:cubicBezTo>
                <a:lnTo>
                  <a:pt x="204639" y="86832"/>
                </a:lnTo>
                <a:lnTo>
                  <a:pt x="229614" y="72414"/>
                </a:lnTo>
                <a:cubicBezTo>
                  <a:pt x="236730" y="68321"/>
                  <a:pt x="239195" y="59206"/>
                  <a:pt x="235055" y="52090"/>
                </a:cubicBezTo>
                <a:cubicBezTo>
                  <a:pt x="230916" y="44974"/>
                  <a:pt x="221847" y="42556"/>
                  <a:pt x="214731" y="46648"/>
                </a:cubicBezTo>
                <a:lnTo>
                  <a:pt x="189756" y="61066"/>
                </a:lnTo>
                <a:lnTo>
                  <a:pt x="192314" y="51532"/>
                </a:lnTo>
                <a:cubicBezTo>
                  <a:pt x="193895" y="45579"/>
                  <a:pt x="190360" y="39439"/>
                  <a:pt x="184407" y="37858"/>
                </a:cubicBezTo>
                <a:cubicBezTo>
                  <a:pt x="178454" y="36277"/>
                  <a:pt x="172315" y="39812"/>
                  <a:pt x="170734" y="45765"/>
                </a:cubicBezTo>
                <a:lnTo>
                  <a:pt x="162409" y="76879"/>
                </a:lnTo>
                <a:lnTo>
                  <a:pt x="133945" y="93297"/>
                </a:lnTo>
                <a:lnTo>
                  <a:pt x="133945" y="60461"/>
                </a:lnTo>
                <a:lnTo>
                  <a:pt x="156735" y="37672"/>
                </a:lnTo>
                <a:cubicBezTo>
                  <a:pt x="161106" y="33300"/>
                  <a:pt x="161106" y="26231"/>
                  <a:pt x="156735" y="21906"/>
                </a:cubicBezTo>
                <a:cubicBezTo>
                  <a:pt x="152363" y="17580"/>
                  <a:pt x="145293" y="17534"/>
                  <a:pt x="140968" y="21906"/>
                </a:cubicBezTo>
                <a:lnTo>
                  <a:pt x="133992" y="28882"/>
                </a:lnTo>
                <a:lnTo>
                  <a:pt x="133992" y="0"/>
                </a:ln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14" name="Text 12"/>
          <p:cNvSpPr/>
          <p:nvPr/>
        </p:nvSpPr>
        <p:spPr>
          <a:xfrm>
            <a:off x="3317875" y="2682774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Water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2000" y="2873274"/>
            <a:ext cx="2428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4-7°C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500" y="3571681"/>
            <a:ext cx="5683250" cy="3016250"/>
          </a:xfrm>
          <a:custGeom>
            <a:avLst/>
            <a:gdLst/>
            <a:ahLst/>
            <a:cxnLst/>
            <a:rect l="l" t="t" r="r" b="b"/>
            <a:pathLst>
              <a:path w="5683250" h="3016250">
                <a:moveTo>
                  <a:pt x="95253" y="0"/>
                </a:moveTo>
                <a:lnTo>
                  <a:pt x="5587997" y="0"/>
                </a:lnTo>
                <a:cubicBezTo>
                  <a:pt x="5640604" y="0"/>
                  <a:pt x="5683250" y="42646"/>
                  <a:pt x="5683250" y="95253"/>
                </a:cubicBezTo>
                <a:lnTo>
                  <a:pt x="5683250" y="2920997"/>
                </a:lnTo>
                <a:cubicBezTo>
                  <a:pt x="5683250" y="2973604"/>
                  <a:pt x="5640604" y="3016250"/>
                  <a:pt x="5587997" y="3016250"/>
                </a:cubicBezTo>
                <a:lnTo>
                  <a:pt x="95253" y="3016250"/>
                </a:lnTo>
                <a:cubicBezTo>
                  <a:pt x="42646" y="3016250"/>
                  <a:pt x="0" y="2973604"/>
                  <a:pt x="0" y="2920997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8000" y="3762181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OTEC System Types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875" y="414308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" y="414308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Closed-Cycle OTEC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6750" y="4397080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ammonia or other working fluid with low boiling point. Warm water vaporizes fluid → drives turbine → cold water condenses vapor. Most efficient design.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875" y="493683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" y="493683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Open-Cycle OTEC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6750" y="5190830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 seawater flash-evaporates in vacuum chamber → steam drives turbine → cold seawater condenses steam. Produces desalinated water as byproduct.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3875" y="573058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5" name="Text 23"/>
          <p:cNvSpPr/>
          <p:nvPr/>
        </p:nvSpPr>
        <p:spPr>
          <a:xfrm>
            <a:off x="666750" y="573058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Systems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6750" y="5984580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benefits of both approaches for enhanced efficiency and additional freshwater production.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1250" y="1143000"/>
            <a:ext cx="5683250" cy="3603625"/>
          </a:xfrm>
          <a:custGeom>
            <a:avLst/>
            <a:gdLst/>
            <a:ahLst/>
            <a:cxnLst/>
            <a:rect l="l" t="t" r="r" b="b"/>
            <a:pathLst>
              <a:path w="5683250" h="3603625">
                <a:moveTo>
                  <a:pt x="95244" y="0"/>
                </a:moveTo>
                <a:lnTo>
                  <a:pt x="5588006" y="0"/>
                </a:lnTo>
                <a:cubicBezTo>
                  <a:pt x="5640608" y="0"/>
                  <a:pt x="5683250" y="42642"/>
                  <a:pt x="5683250" y="95244"/>
                </a:cubicBezTo>
                <a:lnTo>
                  <a:pt x="5683250" y="3508381"/>
                </a:lnTo>
                <a:cubicBezTo>
                  <a:pt x="5683250" y="3560983"/>
                  <a:pt x="5640608" y="3603625"/>
                  <a:pt x="5588006" y="3603625"/>
                </a:cubicBezTo>
                <a:lnTo>
                  <a:pt x="95244" y="3603625"/>
                </a:lnTo>
                <a:cubicBezTo>
                  <a:pt x="42642" y="3603625"/>
                  <a:pt x="0" y="3560983"/>
                  <a:pt x="0" y="350838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81750" y="1333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Advantages &amp; Potential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1777899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0" y="79375"/>
                </a:moveTo>
                <a:cubicBezTo>
                  <a:pt x="0" y="51966"/>
                  <a:pt x="22200" y="29766"/>
                  <a:pt x="49609" y="29766"/>
                </a:cubicBezTo>
                <a:cubicBezTo>
                  <a:pt x="65236" y="29766"/>
                  <a:pt x="79933" y="37114"/>
                  <a:pt x="89297" y="49609"/>
                </a:cubicBezTo>
                <a:lnTo>
                  <a:pt x="99219" y="62849"/>
                </a:lnTo>
                <a:lnTo>
                  <a:pt x="109141" y="49609"/>
                </a:lnTo>
                <a:cubicBezTo>
                  <a:pt x="118504" y="37114"/>
                  <a:pt x="133201" y="29766"/>
                  <a:pt x="148828" y="29766"/>
                </a:cubicBezTo>
                <a:cubicBezTo>
                  <a:pt x="176237" y="29766"/>
                  <a:pt x="198438" y="51966"/>
                  <a:pt x="198438" y="79375"/>
                </a:cubicBezTo>
                <a:cubicBezTo>
                  <a:pt x="198438" y="106784"/>
                  <a:pt x="176237" y="128984"/>
                  <a:pt x="148828" y="128984"/>
                </a:cubicBezTo>
                <a:cubicBezTo>
                  <a:pt x="133201" y="128984"/>
                  <a:pt x="118504" y="121636"/>
                  <a:pt x="109141" y="109141"/>
                </a:cubicBezTo>
                <a:lnTo>
                  <a:pt x="99219" y="95901"/>
                </a:lnTo>
                <a:lnTo>
                  <a:pt x="89297" y="109141"/>
                </a:lnTo>
                <a:cubicBezTo>
                  <a:pt x="79933" y="121636"/>
                  <a:pt x="65236" y="128984"/>
                  <a:pt x="49609" y="128984"/>
                </a:cubicBezTo>
                <a:cubicBezTo>
                  <a:pt x="22200" y="128984"/>
                  <a:pt x="0" y="106784"/>
                  <a:pt x="0" y="79375"/>
                </a:cubicBezTo>
                <a:close/>
                <a:moveTo>
                  <a:pt x="86816" y="79375"/>
                </a:moveTo>
                <a:lnTo>
                  <a:pt x="73422" y="61516"/>
                </a:lnTo>
                <a:cubicBezTo>
                  <a:pt x="67810" y="54012"/>
                  <a:pt x="58973" y="49609"/>
                  <a:pt x="49609" y="49609"/>
                </a:cubicBezTo>
                <a:cubicBezTo>
                  <a:pt x="33176" y="49609"/>
                  <a:pt x="19844" y="62942"/>
                  <a:pt x="19844" y="79375"/>
                </a:cubicBezTo>
                <a:cubicBezTo>
                  <a:pt x="19844" y="95808"/>
                  <a:pt x="33176" y="109141"/>
                  <a:pt x="49609" y="109141"/>
                </a:cubicBezTo>
                <a:cubicBezTo>
                  <a:pt x="58973" y="109141"/>
                  <a:pt x="67810" y="104738"/>
                  <a:pt x="73422" y="97234"/>
                </a:cubicBezTo>
                <a:lnTo>
                  <a:pt x="86816" y="79375"/>
                </a:lnTo>
                <a:close/>
                <a:moveTo>
                  <a:pt x="111621" y="79375"/>
                </a:moveTo>
                <a:lnTo>
                  <a:pt x="125016" y="97234"/>
                </a:lnTo>
                <a:cubicBezTo>
                  <a:pt x="130628" y="104738"/>
                  <a:pt x="139464" y="109141"/>
                  <a:pt x="148828" y="109141"/>
                </a:cubicBezTo>
                <a:cubicBezTo>
                  <a:pt x="165261" y="109141"/>
                  <a:pt x="178594" y="95808"/>
                  <a:pt x="178594" y="79375"/>
                </a:cubicBezTo>
                <a:cubicBezTo>
                  <a:pt x="178594" y="62942"/>
                  <a:pt x="165261" y="49609"/>
                  <a:pt x="148828" y="49609"/>
                </a:cubicBezTo>
                <a:cubicBezTo>
                  <a:pt x="139464" y="49609"/>
                  <a:pt x="130628" y="54012"/>
                  <a:pt x="125016" y="61516"/>
                </a:cubicBezTo>
                <a:lnTo>
                  <a:pt x="111621" y="79375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438" y="1746149"/>
            <a:ext cx="402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Power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438" y="1968399"/>
            <a:ext cx="4024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solar/wind, OTEC provides baseload power 24/7, 365 days a year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1438" y="2333524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9531" y="158750"/>
                </a:moveTo>
                <a:cubicBezTo>
                  <a:pt x="26665" y="158750"/>
                  <a:pt x="0" y="132085"/>
                  <a:pt x="0" y="99219"/>
                </a:cubicBezTo>
                <a:cubicBezTo>
                  <a:pt x="0" y="70941"/>
                  <a:pt x="40370" y="14232"/>
                  <a:pt x="51656" y="-1085"/>
                </a:cubicBezTo>
                <a:cubicBezTo>
                  <a:pt x="53485" y="-3566"/>
                  <a:pt x="56369" y="-4961"/>
                  <a:pt x="59469" y="-4961"/>
                </a:cubicBezTo>
                <a:lnTo>
                  <a:pt x="59593" y="-4961"/>
                </a:lnTo>
                <a:cubicBezTo>
                  <a:pt x="62694" y="-4961"/>
                  <a:pt x="65577" y="-3566"/>
                  <a:pt x="67407" y="-1085"/>
                </a:cubicBezTo>
                <a:cubicBezTo>
                  <a:pt x="78693" y="14232"/>
                  <a:pt x="119062" y="70941"/>
                  <a:pt x="119062" y="99219"/>
                </a:cubicBezTo>
                <a:cubicBezTo>
                  <a:pt x="119062" y="132085"/>
                  <a:pt x="92397" y="158750"/>
                  <a:pt x="59531" y="158750"/>
                </a:cubicBezTo>
                <a:close/>
                <a:moveTo>
                  <a:pt x="34727" y="96738"/>
                </a:moveTo>
                <a:cubicBezTo>
                  <a:pt x="34727" y="92615"/>
                  <a:pt x="31409" y="89297"/>
                  <a:pt x="27285" y="89297"/>
                </a:cubicBezTo>
                <a:cubicBezTo>
                  <a:pt x="23161" y="89297"/>
                  <a:pt x="19844" y="92615"/>
                  <a:pt x="19844" y="96738"/>
                </a:cubicBezTo>
                <a:cubicBezTo>
                  <a:pt x="19844" y="120024"/>
                  <a:pt x="38726" y="138906"/>
                  <a:pt x="62012" y="138906"/>
                </a:cubicBezTo>
                <a:cubicBezTo>
                  <a:pt x="66135" y="138906"/>
                  <a:pt x="69453" y="135589"/>
                  <a:pt x="69453" y="131465"/>
                </a:cubicBezTo>
                <a:cubicBezTo>
                  <a:pt x="69453" y="127341"/>
                  <a:pt x="66135" y="124023"/>
                  <a:pt x="62012" y="124023"/>
                </a:cubicBezTo>
                <a:cubicBezTo>
                  <a:pt x="46943" y="124023"/>
                  <a:pt x="34727" y="111807"/>
                  <a:pt x="34727" y="96738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438" y="2301774"/>
            <a:ext cx="415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Freshwater Production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438" y="2524024"/>
            <a:ext cx="4151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Open-cycle systems can produce significant amounts of desalinated water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672" y="288914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5966" y="43873"/>
                </a:moveTo>
                <a:cubicBezTo>
                  <a:pt x="68120" y="33641"/>
                  <a:pt x="84522" y="24805"/>
                  <a:pt x="104180" y="24805"/>
                </a:cubicBezTo>
                <a:cubicBezTo>
                  <a:pt x="123837" y="24805"/>
                  <a:pt x="140240" y="33641"/>
                  <a:pt x="152394" y="43873"/>
                </a:cubicBezTo>
                <a:cubicBezTo>
                  <a:pt x="164517" y="54105"/>
                  <a:pt x="173137" y="66322"/>
                  <a:pt x="177509" y="74817"/>
                </a:cubicBezTo>
                <a:cubicBezTo>
                  <a:pt x="178966" y="77670"/>
                  <a:pt x="178966" y="81049"/>
                  <a:pt x="177509" y="83902"/>
                </a:cubicBezTo>
                <a:cubicBezTo>
                  <a:pt x="173137" y="92397"/>
                  <a:pt x="164517" y="104614"/>
                  <a:pt x="152394" y="114846"/>
                </a:cubicBezTo>
                <a:cubicBezTo>
                  <a:pt x="140240" y="125109"/>
                  <a:pt x="123868" y="133914"/>
                  <a:pt x="104180" y="133914"/>
                </a:cubicBezTo>
                <a:cubicBezTo>
                  <a:pt x="84491" y="133914"/>
                  <a:pt x="68120" y="125078"/>
                  <a:pt x="55966" y="114846"/>
                </a:cubicBezTo>
                <a:cubicBezTo>
                  <a:pt x="50943" y="110598"/>
                  <a:pt x="46509" y="106009"/>
                  <a:pt x="42726" y="101482"/>
                </a:cubicBezTo>
                <a:lnTo>
                  <a:pt x="14914" y="117698"/>
                </a:lnTo>
                <a:cubicBezTo>
                  <a:pt x="11038" y="119962"/>
                  <a:pt x="6108" y="119342"/>
                  <a:pt x="2915" y="116179"/>
                </a:cubicBezTo>
                <a:cubicBezTo>
                  <a:pt x="-279" y="113016"/>
                  <a:pt x="-930" y="108117"/>
                  <a:pt x="1271" y="104211"/>
                </a:cubicBezTo>
                <a:lnTo>
                  <a:pt x="15503" y="79375"/>
                </a:lnTo>
                <a:lnTo>
                  <a:pt x="1302" y="54539"/>
                </a:lnTo>
                <a:cubicBezTo>
                  <a:pt x="-930" y="50633"/>
                  <a:pt x="-248" y="45734"/>
                  <a:pt x="2946" y="42571"/>
                </a:cubicBezTo>
                <a:cubicBezTo>
                  <a:pt x="6139" y="39408"/>
                  <a:pt x="11038" y="38788"/>
                  <a:pt x="14945" y="41052"/>
                </a:cubicBezTo>
                <a:lnTo>
                  <a:pt x="42757" y="57268"/>
                </a:lnTo>
                <a:cubicBezTo>
                  <a:pt x="46540" y="52741"/>
                  <a:pt x="50974" y="48152"/>
                  <a:pt x="55997" y="43904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438" y="2857399"/>
            <a:ext cx="375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Mariculture Benefits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438" y="3079649"/>
            <a:ext cx="37544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nutrient-rich deep water supports aquaculture and agriculture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1594" y="344477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438" y="3413024"/>
            <a:ext cx="425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Tropical Potential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438" y="3635274"/>
            <a:ext cx="4254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for tropical coastal regions where temperature differentials are greatest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4873330"/>
            <a:ext cx="5683250" cy="1714500"/>
          </a:xfrm>
          <a:custGeom>
            <a:avLst/>
            <a:gdLst/>
            <a:ahLst/>
            <a:cxnLst/>
            <a:rect l="l" t="t" r="r" b="b"/>
            <a:pathLst>
              <a:path w="5683250" h="1714500">
                <a:moveTo>
                  <a:pt x="95258" y="0"/>
                </a:moveTo>
                <a:lnTo>
                  <a:pt x="5587992" y="0"/>
                </a:lnTo>
                <a:cubicBezTo>
                  <a:pt x="5640602" y="0"/>
                  <a:pt x="5683250" y="42648"/>
                  <a:pt x="5683250" y="95258"/>
                </a:cubicBezTo>
                <a:lnTo>
                  <a:pt x="5683250" y="1619242"/>
                </a:lnTo>
                <a:cubicBezTo>
                  <a:pt x="5683250" y="1671852"/>
                  <a:pt x="5640602" y="1714500"/>
                  <a:pt x="5587992" y="1714500"/>
                </a:cubicBezTo>
                <a:lnTo>
                  <a:pt x="95258" y="1714500"/>
                </a:lnTo>
                <a:cubicBezTo>
                  <a:pt x="42648" y="1714500"/>
                  <a:pt x="0" y="1671852"/>
                  <a:pt x="0" y="1619242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0000" y="503208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Current Development Status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0000" y="538133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Operational Plant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20425" y="538133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Hawaii, 2015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000" y="5667080"/>
            <a:ext cx="99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Capacity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79324" y="566708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~100 kW - 1 MW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0000" y="5952830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Potential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09387" y="5952830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100+ MW plants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0000" y="6238580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Regions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891838" y="6238580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Tropical coasts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jbecotex.com/09a225fcd5b527edfaec9e4322b612615e0c8f0c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F3E3B">
                  <a:alpha val="90000"/>
                </a:srgbClr>
              </a:gs>
              <a:gs pos="50000">
                <a:srgbClr val="2F3E3B">
                  <a:alpha val="85000"/>
                </a:srgbClr>
              </a:gs>
              <a:gs pos="100000">
                <a:srgbClr val="4C8A7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75610"/>
            <a:ext cx="1741170" cy="388620"/>
          </a:xfrm>
          <a:custGeom>
            <a:avLst/>
            <a:gdLst/>
            <a:ahLst/>
            <a:cxnLst/>
            <a:rect l="l" t="t" r="r" b="b"/>
            <a:pathLst>
              <a:path w="1741170" h="388620">
                <a:moveTo>
                  <a:pt x="194310" y="0"/>
                </a:moveTo>
                <a:lnTo>
                  <a:pt x="1546860" y="0"/>
                </a:lnTo>
                <a:cubicBezTo>
                  <a:pt x="1654174" y="0"/>
                  <a:pt x="1741170" y="86996"/>
                  <a:pt x="1741170" y="194310"/>
                </a:cubicBezTo>
                <a:lnTo>
                  <a:pt x="1741170" y="194310"/>
                </a:lnTo>
                <a:cubicBezTo>
                  <a:pt x="1741170" y="301624"/>
                  <a:pt x="1654174" y="388620"/>
                  <a:pt x="15468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 w="10160">
            <a:solidFill>
              <a:srgbClr val="8FB7AC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2932" y="18419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4976" y="10716"/>
                </a:moveTo>
                <a:lnTo>
                  <a:pt x="49459" y="10716"/>
                </a:lnTo>
                <a:cubicBezTo>
                  <a:pt x="39614" y="10716"/>
                  <a:pt x="31008" y="17446"/>
                  <a:pt x="28664" y="26990"/>
                </a:cubicBezTo>
                <a:lnTo>
                  <a:pt x="469" y="140810"/>
                </a:lnTo>
                <a:cubicBezTo>
                  <a:pt x="-2043" y="150923"/>
                  <a:pt x="5626" y="160734"/>
                  <a:pt x="16073" y="160734"/>
                </a:cubicBezTo>
                <a:lnTo>
                  <a:pt x="74976" y="160734"/>
                </a:lnTo>
                <a:lnTo>
                  <a:pt x="74976" y="139303"/>
                </a:lnTo>
                <a:cubicBezTo>
                  <a:pt x="74976" y="133376"/>
                  <a:pt x="79764" y="128588"/>
                  <a:pt x="85692" y="128588"/>
                </a:cubicBezTo>
                <a:cubicBezTo>
                  <a:pt x="91619" y="128588"/>
                  <a:pt x="96407" y="133376"/>
                  <a:pt x="96407" y="139303"/>
                </a:cubicBezTo>
                <a:lnTo>
                  <a:pt x="96407" y="160734"/>
                </a:lnTo>
                <a:lnTo>
                  <a:pt x="155377" y="160734"/>
                </a:lnTo>
                <a:cubicBezTo>
                  <a:pt x="165824" y="160734"/>
                  <a:pt x="173493" y="150923"/>
                  <a:pt x="170981" y="140810"/>
                </a:cubicBezTo>
                <a:lnTo>
                  <a:pt x="142819" y="26990"/>
                </a:lnTo>
                <a:cubicBezTo>
                  <a:pt x="140442" y="17446"/>
                  <a:pt x="131869" y="10716"/>
                  <a:pt x="121991" y="10716"/>
                </a:cubicBezTo>
                <a:lnTo>
                  <a:pt x="96407" y="10716"/>
                </a:lnTo>
                <a:lnTo>
                  <a:pt x="96407" y="32147"/>
                </a:lnTo>
                <a:cubicBezTo>
                  <a:pt x="96407" y="38074"/>
                  <a:pt x="91619" y="42863"/>
                  <a:pt x="85692" y="42863"/>
                </a:cubicBezTo>
                <a:cubicBezTo>
                  <a:pt x="79764" y="42863"/>
                  <a:pt x="74976" y="38074"/>
                  <a:pt x="74976" y="32147"/>
                </a:cubicBezTo>
                <a:lnTo>
                  <a:pt x="74976" y="10716"/>
                </a:lnTo>
                <a:close/>
                <a:moveTo>
                  <a:pt x="96407" y="75009"/>
                </a:moveTo>
                <a:lnTo>
                  <a:pt x="96407" y="96441"/>
                </a:lnTo>
                <a:cubicBezTo>
                  <a:pt x="96407" y="102368"/>
                  <a:pt x="91619" y="107156"/>
                  <a:pt x="85692" y="107156"/>
                </a:cubicBezTo>
                <a:cubicBezTo>
                  <a:pt x="79764" y="107156"/>
                  <a:pt x="74976" y="102368"/>
                  <a:pt x="74976" y="96441"/>
                </a:cubicBezTo>
                <a:lnTo>
                  <a:pt x="74976" y="75009"/>
                </a:lnTo>
                <a:cubicBezTo>
                  <a:pt x="74976" y="69082"/>
                  <a:pt x="79764" y="64294"/>
                  <a:pt x="85692" y="64294"/>
                </a:cubicBezTo>
                <a:cubicBezTo>
                  <a:pt x="91619" y="64294"/>
                  <a:pt x="96407" y="69082"/>
                  <a:pt x="96407" y="7500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" name="Text 3"/>
          <p:cNvSpPr/>
          <p:nvPr/>
        </p:nvSpPr>
        <p:spPr>
          <a:xfrm>
            <a:off x="907733" y="155618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696637"/>
            <a:ext cx="10763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Path Forward: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Investing in a Sustainable Future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35398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Shape 6"/>
          <p:cNvSpPr/>
          <p:nvPr/>
        </p:nvSpPr>
        <p:spPr>
          <a:xfrm>
            <a:off x="384810" y="2700697"/>
            <a:ext cx="3331845" cy="2065020"/>
          </a:xfrm>
          <a:custGeom>
            <a:avLst/>
            <a:gdLst/>
            <a:ahLst/>
            <a:cxnLst/>
            <a:rect l="l" t="t" r="r" b="b"/>
            <a:pathLst>
              <a:path w="3331845" h="2065020">
                <a:moveTo>
                  <a:pt x="114299" y="0"/>
                </a:moveTo>
                <a:lnTo>
                  <a:pt x="3217546" y="0"/>
                </a:lnTo>
                <a:cubicBezTo>
                  <a:pt x="3280672" y="0"/>
                  <a:pt x="3331845" y="51173"/>
                  <a:pt x="3331845" y="114299"/>
                </a:cubicBezTo>
                <a:lnTo>
                  <a:pt x="3331845" y="1950721"/>
                </a:lnTo>
                <a:cubicBezTo>
                  <a:pt x="3331845" y="2013847"/>
                  <a:pt x="3280672" y="2065020"/>
                  <a:pt x="3217546" y="2065020"/>
                </a:cubicBezTo>
                <a:lnTo>
                  <a:pt x="114299" y="2065020"/>
                </a:lnTo>
                <a:cubicBezTo>
                  <a:pt x="51173" y="2065020"/>
                  <a:pt x="0" y="2013847"/>
                  <a:pt x="0" y="19507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" y="29331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1" name="Shape 8"/>
          <p:cNvSpPr/>
          <p:nvPr/>
        </p:nvSpPr>
        <p:spPr>
          <a:xfrm>
            <a:off x="750570" y="306645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02835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Environmental Protection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7220" y="3542705"/>
            <a:ext cx="29432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Alternate energy sources significantly reduce greenhouse gas emissions, air pollution, and environmental degradation compared to fossil fuels.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53470" y="2700697"/>
            <a:ext cx="3331845" cy="2065020"/>
          </a:xfrm>
          <a:custGeom>
            <a:avLst/>
            <a:gdLst/>
            <a:ahLst/>
            <a:cxnLst/>
            <a:rect l="l" t="t" r="r" b="b"/>
            <a:pathLst>
              <a:path w="3331845" h="2065020">
                <a:moveTo>
                  <a:pt x="114299" y="0"/>
                </a:moveTo>
                <a:lnTo>
                  <a:pt x="3217546" y="0"/>
                </a:lnTo>
                <a:cubicBezTo>
                  <a:pt x="3280672" y="0"/>
                  <a:pt x="3331845" y="51173"/>
                  <a:pt x="3331845" y="114299"/>
                </a:cubicBezTo>
                <a:lnTo>
                  <a:pt x="3331845" y="1950721"/>
                </a:lnTo>
                <a:cubicBezTo>
                  <a:pt x="3331845" y="2013847"/>
                  <a:pt x="3280672" y="2065020"/>
                  <a:pt x="3217546" y="2065020"/>
                </a:cubicBezTo>
                <a:lnTo>
                  <a:pt x="114299" y="2065020"/>
                </a:lnTo>
                <a:cubicBezTo>
                  <a:pt x="51173" y="2065020"/>
                  <a:pt x="0" y="2013847"/>
                  <a:pt x="0" y="19507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5880" y="29331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6" name="Shape 13"/>
          <p:cNvSpPr/>
          <p:nvPr/>
        </p:nvSpPr>
        <p:spPr>
          <a:xfrm>
            <a:off x="4319230" y="306645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757380" y="3028355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Energy Security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85880" y="3542705"/>
            <a:ext cx="29432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resources are domestically available and inexhaustible, reducing dependence on imported fuels and price volatility.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22131" y="2700697"/>
            <a:ext cx="3331845" cy="2065020"/>
          </a:xfrm>
          <a:custGeom>
            <a:avLst/>
            <a:gdLst/>
            <a:ahLst/>
            <a:cxnLst/>
            <a:rect l="l" t="t" r="r" b="b"/>
            <a:pathLst>
              <a:path w="3331845" h="2065020">
                <a:moveTo>
                  <a:pt x="114299" y="0"/>
                </a:moveTo>
                <a:lnTo>
                  <a:pt x="3217546" y="0"/>
                </a:lnTo>
                <a:cubicBezTo>
                  <a:pt x="3280672" y="0"/>
                  <a:pt x="3331845" y="51173"/>
                  <a:pt x="3331845" y="114299"/>
                </a:cubicBezTo>
                <a:lnTo>
                  <a:pt x="3331845" y="1950721"/>
                </a:lnTo>
                <a:cubicBezTo>
                  <a:pt x="3331845" y="2013847"/>
                  <a:pt x="3280672" y="2065020"/>
                  <a:pt x="3217546" y="2065020"/>
                </a:cubicBezTo>
                <a:lnTo>
                  <a:pt x="114299" y="2065020"/>
                </a:lnTo>
                <a:cubicBezTo>
                  <a:pt x="51173" y="2065020"/>
                  <a:pt x="0" y="2013847"/>
                  <a:pt x="0" y="19507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54541" y="29331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1" name="Shape 18"/>
          <p:cNvSpPr/>
          <p:nvPr/>
        </p:nvSpPr>
        <p:spPr>
          <a:xfrm>
            <a:off x="7887891" y="306645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326041" y="3028355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Sustainable Development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54541" y="3542705"/>
            <a:ext cx="2943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energy creates jobs, stimulates rural economies, and provides affordable power to communities worldwide.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1000" y="5074323"/>
            <a:ext cx="10477500" cy="1714500"/>
          </a:xfrm>
          <a:custGeom>
            <a:avLst/>
            <a:gdLst/>
            <a:ahLst/>
            <a:cxnLst/>
            <a:rect l="l" t="t" r="r" b="b"/>
            <a:pathLst>
              <a:path w="10477500" h="1714500">
                <a:moveTo>
                  <a:pt x="114306" y="0"/>
                </a:moveTo>
                <a:lnTo>
                  <a:pt x="10363194" y="0"/>
                </a:lnTo>
                <a:cubicBezTo>
                  <a:pt x="10426324" y="0"/>
                  <a:pt x="10477500" y="51176"/>
                  <a:pt x="10477500" y="114306"/>
                </a:cubicBezTo>
                <a:lnTo>
                  <a:pt x="10477500" y="1600194"/>
                </a:lnTo>
                <a:cubicBezTo>
                  <a:pt x="10477500" y="1663324"/>
                  <a:pt x="10426324" y="1714500"/>
                  <a:pt x="10363194" y="1714500"/>
                </a:cubicBezTo>
                <a:lnTo>
                  <a:pt x="114306" y="1714500"/>
                </a:lnTo>
                <a:cubicBezTo>
                  <a:pt x="51176" y="1714500"/>
                  <a:pt x="0" y="1663324"/>
                  <a:pt x="0" y="16001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4363" y="5341023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919" y="5302923"/>
            <a:ext cx="967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66919" y="5721911"/>
            <a:ext cx="96488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Continued investment in hydroelectric, biomass, biogas, and ocean thermal technologies is essential for achieving climate goals and ensuring a cleaner, greener, and more energy-secure future for generations to come. The transition to renewable energy is not just an option—it is an imperative.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Alternate Energy Sources: Hydro, Biomass &amp; Biogas, and Ocean Thermal Energy</dc:title>
  <dc:subject>Alternate Energy Sources: Hydro, Biomass &amp; Biogas, and Ocean Thermal Energy</dc:subject>
  <dc:creator>Kimi</dc:creator>
  <cp:lastModifiedBy>Kimi</cp:lastModifiedBy>
  <cp:revision>1</cp:revision>
  <dcterms:created xsi:type="dcterms:W3CDTF">2026-03-26T06:25:54Z</dcterms:created>
  <dcterms:modified xsi:type="dcterms:W3CDTF">2026-03-26T06:25:54Z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{"Label":"Alternate Energy Sources: Hydro, Biomass &amp; Biogas, and Ocean Thermal Energy","ContentProducer":"001191110108MACG2KBH8F10000","ProduceID":"19d28c15-a522-81c6-8000-0000f575b396","ReservedCode1":"","ContentPropagator":"001191110108MACG2KBH8F20000","PropagateID":"19d28c15-a522-81c6-8000-0000f575b396","ReservedCode2":""}</vt:lpwstr>
  </property>
</Properties>
</file>